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3004800" cy="7315200"/>
  <p:notesSz cx="6858000" cy="9144000"/>
  <p:embeddedFontLst>
    <p:embeddedFont>
      <p:font typeface="Manrope Bold" charset="1" panose="00000000000000000000"/>
      <p:regular r:id="rId22"/>
    </p:embeddedFont>
    <p:embeddedFont>
      <p:font typeface="Century Gothic Paneuropean" charset="1" panose="020B0502020202020204"/>
      <p:regular r:id="rId23"/>
    </p:embeddedFont>
    <p:embeddedFont>
      <p:font typeface="Glacial Indifference Bold" charset="1" panose="00000800000000000000"/>
      <p:regular r:id="rId24"/>
    </p:embeddedFont>
    <p:embeddedFont>
      <p:font typeface="Roboto Bold" charset="1" panose="02000000000000000000"/>
      <p:regular r:id="rId25"/>
    </p:embeddedFont>
    <p:embeddedFont>
      <p:font typeface="Century Gothic Paneuropean Bold" charset="1" panose="020B0702020202020204"/>
      <p:regular r:id="rId26"/>
    </p:embeddedFont>
    <p:embeddedFont>
      <p:font typeface="Poppins Medium" charset="1" panose="00000600000000000000"/>
      <p:regular r:id="rId27"/>
    </p:embeddedFont>
    <p:embeddedFont>
      <p:font typeface="Montserrat Classic" charset="1" panose="00000500000000000000"/>
      <p:regular r:id="rId28"/>
    </p:embeddedFont>
    <p:embeddedFont>
      <p:font typeface="Gotham" charset="1" panose="00000000000000000000"/>
      <p:regular r:id="rId29"/>
    </p:embeddedFont>
    <p:embeddedFont>
      <p:font typeface="Gotham Bold" charset="1" panose="00000000000000000000"/>
      <p:regular r:id="rId30"/>
    </p:embeddedFont>
    <p:embeddedFont>
      <p:font typeface="Poppins Bold" charset="1" panose="00000800000000000000"/>
      <p:regular r:id="rId31"/>
    </p:embeddedFont>
    <p:embeddedFont>
      <p:font typeface="Glacial Indifference" charset="1" panose="00000000000000000000"/>
      <p:regular r:id="rId32"/>
    </p:embeddedFont>
    <p:embeddedFont>
      <p:font typeface="Agrandir" charset="1" panose="00000500000000000000"/>
      <p:regular r:id="rId33"/>
    </p:embeddedFont>
    <p:embeddedFont>
      <p:font typeface="Agrandir Bold" charset="1" panose="00000800000000000000"/>
      <p:regular r:id="rId34"/>
    </p:embeddedFont>
    <p:embeddedFont>
      <p:font typeface="Roboto" charset="1" panose="02000000000000000000"/>
      <p:regular r:id="rId35"/>
    </p:embeddedFont>
    <p:embeddedFont>
      <p:font typeface="Poppins" charset="1" panose="00000500000000000000"/>
      <p:regular r:id="rId36"/>
    </p:embeddedFont>
    <p:embeddedFont>
      <p:font typeface="Inter" charset="1" panose="020B05020300000000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jpe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3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4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4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4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4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5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6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0168" y="1778800"/>
            <a:ext cx="6868954" cy="126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8"/>
              </a:lnSpc>
            </a:pPr>
            <a:r>
              <a:rPr lang="en-US" sz="7384" b="true">
                <a:solidFill>
                  <a:srgbClr val="000000"/>
                </a:solidFill>
                <a:latin typeface="Manrope Bold"/>
                <a:ea typeface="Manrope Bold"/>
                <a:cs typeface="Manrope Bold"/>
                <a:sym typeface="Manrope Bold"/>
              </a:rPr>
              <a:t>We’re Hiring at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810713" y="1121851"/>
            <a:ext cx="2137835" cy="1821839"/>
          </a:xfrm>
          <a:custGeom>
            <a:avLst/>
            <a:gdLst/>
            <a:ahLst/>
            <a:cxnLst/>
            <a:rect r="r" b="b" t="t" l="l"/>
            <a:pathLst>
              <a:path h="1821839" w="2137835">
                <a:moveTo>
                  <a:pt x="0" y="0"/>
                </a:moveTo>
                <a:lnTo>
                  <a:pt x="2137835" y="0"/>
                </a:lnTo>
                <a:lnTo>
                  <a:pt x="2137835" y="1821838"/>
                </a:lnTo>
                <a:lnTo>
                  <a:pt x="0" y="182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56456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763960" y="4791592"/>
            <a:ext cx="23043105" cy="2915617"/>
            <a:chOff x="0" y="0"/>
            <a:chExt cx="10921419" cy="13818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21419" cy="1381874"/>
            </a:xfrm>
            <a:custGeom>
              <a:avLst/>
              <a:gdLst/>
              <a:ahLst/>
              <a:cxnLst/>
              <a:rect r="r" b="b" t="t" l="l"/>
              <a:pathLst>
                <a:path h="1381874" w="10921419">
                  <a:moveTo>
                    <a:pt x="0" y="0"/>
                  </a:moveTo>
                  <a:lnTo>
                    <a:pt x="10921419" y="0"/>
                  </a:lnTo>
                  <a:lnTo>
                    <a:pt x="10921419" y="1381874"/>
                  </a:lnTo>
                  <a:lnTo>
                    <a:pt x="0" y="1381874"/>
                  </a:lnTo>
                  <a:close/>
                </a:path>
              </a:pathLst>
            </a:custGeom>
            <a:solidFill>
              <a:srgbClr val="93181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0921419" cy="1410449"/>
            </a:xfrm>
            <a:prstGeom prst="rect">
              <a:avLst/>
            </a:prstGeom>
          </p:spPr>
          <p:txBody>
            <a:bodyPr anchor="ctr" rtlCol="false" tIns="28229" lIns="28229" bIns="28229" rIns="28229"/>
            <a:lstStyle/>
            <a:p>
              <a:pPr algn="ctr">
                <a:lnSpc>
                  <a:spcPts val="132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340682" y="5370244"/>
            <a:ext cx="977368" cy="1213436"/>
          </a:xfrm>
          <a:custGeom>
            <a:avLst/>
            <a:gdLst/>
            <a:ahLst/>
            <a:cxnLst/>
            <a:rect r="r" b="b" t="t" l="l"/>
            <a:pathLst>
              <a:path h="1213436" w="977368">
                <a:moveTo>
                  <a:pt x="0" y="0"/>
                </a:moveTo>
                <a:lnTo>
                  <a:pt x="977368" y="0"/>
                </a:lnTo>
                <a:lnTo>
                  <a:pt x="977368" y="1213436"/>
                </a:lnTo>
                <a:lnTo>
                  <a:pt x="0" y="12134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2602" y="2953310"/>
            <a:ext cx="8424578" cy="146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7"/>
              </a:lnSpc>
            </a:pPr>
            <a:r>
              <a:rPr lang="en-US" sz="4219" b="true">
                <a:solidFill>
                  <a:srgbClr val="000000"/>
                </a:solidFill>
                <a:latin typeface="Manrope Bold"/>
                <a:ea typeface="Manrope Bold"/>
                <a:cs typeface="Manrope Bold"/>
                <a:sym typeface="Manrope Bold"/>
              </a:rPr>
              <a:t>Work</a:t>
            </a:r>
            <a:r>
              <a:rPr lang="en-US" b="true" sz="4219">
                <a:solidFill>
                  <a:srgbClr val="000000"/>
                </a:solidFill>
                <a:latin typeface="Manrope Bold"/>
                <a:ea typeface="Manrope Bold"/>
                <a:cs typeface="Manrope Bold"/>
                <a:sym typeface="Manrope Bold"/>
              </a:rPr>
              <a:t> opportunities with </a:t>
            </a:r>
          </a:p>
          <a:p>
            <a:pPr algn="ctr">
              <a:lnSpc>
                <a:spcPts val="5907"/>
              </a:lnSpc>
            </a:pPr>
            <a:r>
              <a:rPr lang="en-US" b="true" sz="4219">
                <a:solidFill>
                  <a:srgbClr val="000000"/>
                </a:solidFill>
                <a:latin typeface="Manrope Bold"/>
                <a:ea typeface="Manrope Bold"/>
                <a:cs typeface="Manrope Bold"/>
                <a:sym typeface="Manrope Bold"/>
              </a:rPr>
              <a:t>US-based companies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83633" y="5604197"/>
            <a:ext cx="5467826" cy="64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7"/>
              </a:lnSpc>
              <a:spcBef>
                <a:spcPct val="0"/>
              </a:spcBef>
            </a:pPr>
            <a:r>
              <a:rPr lang="en-US" sz="384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Barranquilla, Colombia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1662" y="5795074"/>
            <a:ext cx="2071081" cy="439819"/>
            <a:chOff x="0" y="0"/>
            <a:chExt cx="777685" cy="1651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7685" cy="165151"/>
            </a:xfrm>
            <a:custGeom>
              <a:avLst/>
              <a:gdLst/>
              <a:ahLst/>
              <a:cxnLst/>
              <a:rect r="r" b="b" t="t" l="l"/>
              <a:pathLst>
                <a:path h="165151" w="777685">
                  <a:moveTo>
                    <a:pt x="0" y="0"/>
                  </a:moveTo>
                  <a:lnTo>
                    <a:pt x="777685" y="0"/>
                  </a:lnTo>
                  <a:lnTo>
                    <a:pt x="777685" y="165151"/>
                  </a:lnTo>
                  <a:lnTo>
                    <a:pt x="0" y="165151"/>
                  </a:lnTo>
                  <a:close/>
                </a:path>
              </a:pathLst>
            </a:custGeom>
            <a:solidFill>
              <a:srgbClr val="9419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77685" cy="203251"/>
            </a:xfrm>
            <a:prstGeom prst="rect">
              <a:avLst/>
            </a:prstGeom>
          </p:spPr>
          <p:txBody>
            <a:bodyPr anchor="ctr" rtlCol="false" tIns="31280" lIns="31280" bIns="31280" rIns="31280"/>
            <a:lstStyle/>
            <a:p>
              <a:pPr algn="ctr">
                <a:lnSpc>
                  <a:spcPts val="208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31520" y="3263170"/>
            <a:ext cx="6040679" cy="333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91415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Técnico o tecnólogo egresado SENA.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91415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Manejo de Revit - AutoCAD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91415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Experiencia de 6 meses.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91415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contrato a termino indefinido.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66094" y="2591803"/>
            <a:ext cx="1271242" cy="34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b="true" sz="1963">
                <a:solidFill>
                  <a:srgbClr val="19141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Requisitos: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46485" y="5848121"/>
            <a:ext cx="1472816" cy="29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69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Envíanos tu HV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0575" y="1693891"/>
            <a:ext cx="4886087" cy="65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1"/>
              </a:lnSpc>
            </a:pPr>
            <a:r>
              <a:rPr lang="en-US" sz="3815" b="true">
                <a:solidFill>
                  <a:srgbClr val="94191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TECHNICIAN JUNIOR</a:t>
            </a:r>
            <a:r>
              <a:rPr lang="en-US" sz="3815" b="true">
                <a:solidFill>
                  <a:srgbClr val="94191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04416" y="6441615"/>
            <a:ext cx="3731277" cy="29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1"/>
              </a:lnSpc>
            </a:pPr>
            <a:r>
              <a:rPr lang="en-US" b="true" sz="1762" spc="-17">
                <a:solidFill>
                  <a:srgbClr val="1914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workwithus@4garchitecture.com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88308" y="441548"/>
            <a:ext cx="3158177" cy="1049441"/>
          </a:xfrm>
          <a:custGeom>
            <a:avLst/>
            <a:gdLst/>
            <a:ahLst/>
            <a:cxnLst/>
            <a:rect r="r" b="b" t="t" l="l"/>
            <a:pathLst>
              <a:path h="1049441" w="3158177">
                <a:moveTo>
                  <a:pt x="0" y="0"/>
                </a:moveTo>
                <a:lnTo>
                  <a:pt x="3158177" y="0"/>
                </a:lnTo>
                <a:lnTo>
                  <a:pt x="3158177" y="1049441"/>
                </a:lnTo>
                <a:lnTo>
                  <a:pt x="0" y="104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87397" y="859294"/>
            <a:ext cx="175606" cy="255892"/>
          </a:xfrm>
          <a:custGeom>
            <a:avLst/>
            <a:gdLst/>
            <a:ahLst/>
            <a:cxnLst/>
            <a:rect r="r" b="b" t="t" l="l"/>
            <a:pathLst>
              <a:path h="255892" w="175606">
                <a:moveTo>
                  <a:pt x="0" y="0"/>
                </a:moveTo>
                <a:lnTo>
                  <a:pt x="175605" y="0"/>
                </a:lnTo>
                <a:lnTo>
                  <a:pt x="175605" y="255892"/>
                </a:lnTo>
                <a:lnTo>
                  <a:pt x="0" y="255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609705" y="830719"/>
            <a:ext cx="3189098" cy="26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1590" i="true" spc="79">
                <a:solidFill>
                  <a:srgbClr val="94191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BARRANQUILLA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-816692">
            <a:off x="7942284" y="3637215"/>
            <a:ext cx="4593774" cy="3339931"/>
          </a:xfrm>
          <a:custGeom>
            <a:avLst/>
            <a:gdLst/>
            <a:ahLst/>
            <a:cxnLst/>
            <a:rect r="r" b="b" t="t" l="l"/>
            <a:pathLst>
              <a:path h="3339931" w="4593774">
                <a:moveTo>
                  <a:pt x="4593774" y="0"/>
                </a:moveTo>
                <a:lnTo>
                  <a:pt x="0" y="0"/>
                </a:lnTo>
                <a:lnTo>
                  <a:pt x="0" y="3339931"/>
                </a:lnTo>
                <a:lnTo>
                  <a:pt x="4593774" y="3339931"/>
                </a:lnTo>
                <a:lnTo>
                  <a:pt x="459377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287397" y="1298318"/>
            <a:ext cx="2071081" cy="558205"/>
            <a:chOff x="0" y="0"/>
            <a:chExt cx="777685" cy="2096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7685" cy="209604"/>
            </a:xfrm>
            <a:custGeom>
              <a:avLst/>
              <a:gdLst/>
              <a:ahLst/>
              <a:cxnLst/>
              <a:rect r="r" b="b" t="t" l="l"/>
              <a:pathLst>
                <a:path h="209604" w="777685">
                  <a:moveTo>
                    <a:pt x="0" y="0"/>
                  </a:moveTo>
                  <a:lnTo>
                    <a:pt x="777685" y="0"/>
                  </a:lnTo>
                  <a:lnTo>
                    <a:pt x="777685" y="209604"/>
                  </a:lnTo>
                  <a:lnTo>
                    <a:pt x="0" y="209604"/>
                  </a:lnTo>
                  <a:close/>
                </a:path>
              </a:pathLst>
            </a:custGeom>
            <a:solidFill>
              <a:srgbClr val="8A8A8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77685" cy="247704"/>
            </a:xfrm>
            <a:prstGeom prst="rect">
              <a:avLst/>
            </a:prstGeom>
          </p:spPr>
          <p:txBody>
            <a:bodyPr anchor="ctr" rtlCol="false" tIns="31280" lIns="31280" bIns="31280" rIns="31280"/>
            <a:lstStyle/>
            <a:p>
              <a:pPr algn="ctr">
                <a:lnSpc>
                  <a:spcPts val="208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244078" y="1316148"/>
            <a:ext cx="2157719" cy="48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  <a:spcBef>
                <a:spcPct val="0"/>
              </a:spcBef>
            </a:pPr>
            <a:r>
              <a:rPr lang="en-US" b="true" sz="1365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Rango salarial</a:t>
            </a:r>
          </a:p>
          <a:p>
            <a:pPr algn="ctr">
              <a:lnSpc>
                <a:spcPts val="1911"/>
              </a:lnSpc>
              <a:spcBef>
                <a:spcPct val="0"/>
              </a:spcBef>
            </a:pPr>
            <a:r>
              <a:rPr lang="en-US" b="true" sz="1365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 $1.8 MM COP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015137" y="2293269"/>
            <a:ext cx="3697397" cy="5021931"/>
          </a:xfrm>
          <a:custGeom>
            <a:avLst/>
            <a:gdLst/>
            <a:ahLst/>
            <a:cxnLst/>
            <a:rect r="r" b="b" t="t" l="l"/>
            <a:pathLst>
              <a:path h="5021931" w="3697397">
                <a:moveTo>
                  <a:pt x="0" y="0"/>
                </a:moveTo>
                <a:lnTo>
                  <a:pt x="3697396" y="0"/>
                </a:lnTo>
                <a:lnTo>
                  <a:pt x="3697396" y="5021931"/>
                </a:lnTo>
                <a:lnTo>
                  <a:pt x="0" y="50219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43345" y="-579996"/>
            <a:ext cx="23087557" cy="3793758"/>
            <a:chOff x="0" y="0"/>
            <a:chExt cx="10330132" cy="16974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30131" cy="1697452"/>
            </a:xfrm>
            <a:custGeom>
              <a:avLst/>
              <a:gdLst/>
              <a:ahLst/>
              <a:cxnLst/>
              <a:rect r="r" b="b" t="t" l="l"/>
              <a:pathLst>
                <a:path h="1697452" w="10330131">
                  <a:moveTo>
                    <a:pt x="0" y="0"/>
                  </a:moveTo>
                  <a:lnTo>
                    <a:pt x="10330131" y="0"/>
                  </a:lnTo>
                  <a:lnTo>
                    <a:pt x="10330131" y="1697452"/>
                  </a:lnTo>
                  <a:lnTo>
                    <a:pt x="0" y="1697452"/>
                  </a:lnTo>
                  <a:close/>
                </a:path>
              </a:pathLst>
            </a:custGeom>
            <a:solidFill>
              <a:srgbClr val="FF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330132" cy="1716502"/>
            </a:xfrm>
            <a:prstGeom prst="rect">
              <a:avLst/>
            </a:prstGeom>
          </p:spPr>
          <p:txBody>
            <a:bodyPr anchor="ctr" rtlCol="false" tIns="25942" lIns="25942" bIns="25942" rIns="25942"/>
            <a:lstStyle/>
            <a:p>
              <a:pPr algn="ctr">
                <a:lnSpc>
                  <a:spcPts val="121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75708" y="1810601"/>
            <a:ext cx="1829465" cy="4399658"/>
            <a:chOff x="0" y="0"/>
            <a:chExt cx="881830" cy="21207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1830" cy="2120703"/>
            </a:xfrm>
            <a:custGeom>
              <a:avLst/>
              <a:gdLst/>
              <a:ahLst/>
              <a:cxnLst/>
              <a:rect r="r" b="b" t="t" l="l"/>
              <a:pathLst>
                <a:path h="2120703" w="881830">
                  <a:moveTo>
                    <a:pt x="181967" y="0"/>
                  </a:moveTo>
                  <a:lnTo>
                    <a:pt x="699863" y="0"/>
                  </a:lnTo>
                  <a:cubicBezTo>
                    <a:pt x="800361" y="0"/>
                    <a:pt x="881830" y="81469"/>
                    <a:pt x="881830" y="181967"/>
                  </a:cubicBezTo>
                  <a:lnTo>
                    <a:pt x="881830" y="1938735"/>
                  </a:lnTo>
                  <a:cubicBezTo>
                    <a:pt x="881830" y="2039233"/>
                    <a:pt x="800361" y="2120703"/>
                    <a:pt x="699863" y="2120703"/>
                  </a:cubicBezTo>
                  <a:lnTo>
                    <a:pt x="181967" y="2120703"/>
                  </a:lnTo>
                  <a:cubicBezTo>
                    <a:pt x="133706" y="2120703"/>
                    <a:pt x="87422" y="2101531"/>
                    <a:pt x="53297" y="2067406"/>
                  </a:cubicBezTo>
                  <a:cubicBezTo>
                    <a:pt x="19171" y="2033280"/>
                    <a:pt x="0" y="1986996"/>
                    <a:pt x="0" y="1938735"/>
                  </a:cubicBezTo>
                  <a:lnTo>
                    <a:pt x="0" y="181967"/>
                  </a:lnTo>
                  <a:cubicBezTo>
                    <a:pt x="0" y="133706"/>
                    <a:pt x="19171" y="87422"/>
                    <a:pt x="53297" y="53297"/>
                  </a:cubicBezTo>
                  <a:cubicBezTo>
                    <a:pt x="87422" y="19171"/>
                    <a:pt x="133706" y="0"/>
                    <a:pt x="1819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81830" cy="2139753"/>
            </a:xfrm>
            <a:prstGeom prst="rect">
              <a:avLst/>
            </a:prstGeom>
          </p:spPr>
          <p:txBody>
            <a:bodyPr anchor="ctr" rtlCol="false" tIns="25942" lIns="25942" bIns="25942" rIns="25942"/>
            <a:lstStyle/>
            <a:p>
              <a:pPr algn="ctr">
                <a:lnSpc>
                  <a:spcPts val="121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98445" y="1903987"/>
            <a:ext cx="1638385" cy="4212887"/>
            <a:chOff x="0" y="0"/>
            <a:chExt cx="2469505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69505" cy="6350000"/>
            </a:xfrm>
            <a:custGeom>
              <a:avLst/>
              <a:gdLst/>
              <a:ahLst/>
              <a:cxnLst/>
              <a:rect r="r" b="b" t="t" l="l"/>
              <a:pathLst>
                <a:path h="6350000" w="2469505">
                  <a:moveTo>
                    <a:pt x="2074384" y="6350000"/>
                  </a:moveTo>
                  <a:lnTo>
                    <a:pt x="395121" y="6350000"/>
                  </a:lnTo>
                  <a:cubicBezTo>
                    <a:pt x="176817" y="6350000"/>
                    <a:pt x="0" y="6122670"/>
                    <a:pt x="0" y="5842000"/>
                  </a:cubicBezTo>
                  <a:lnTo>
                    <a:pt x="0" y="508000"/>
                  </a:lnTo>
                  <a:cubicBezTo>
                    <a:pt x="0" y="227330"/>
                    <a:pt x="176817" y="0"/>
                    <a:pt x="395121" y="0"/>
                  </a:cubicBezTo>
                  <a:lnTo>
                    <a:pt x="2074384" y="0"/>
                  </a:lnTo>
                  <a:cubicBezTo>
                    <a:pt x="2292688" y="0"/>
                    <a:pt x="2469505" y="227330"/>
                    <a:pt x="2469505" y="508000"/>
                  </a:cubicBezTo>
                  <a:lnTo>
                    <a:pt x="2469505" y="5842000"/>
                  </a:lnTo>
                  <a:cubicBezTo>
                    <a:pt x="2469505" y="6122670"/>
                    <a:pt x="2292688" y="6350000"/>
                    <a:pt x="2074384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35658" t="0" r="-35658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600469" y="4902900"/>
            <a:ext cx="1593401" cy="370429"/>
            <a:chOff x="0" y="0"/>
            <a:chExt cx="1748132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8132" cy="406400"/>
            </a:xfrm>
            <a:custGeom>
              <a:avLst/>
              <a:gdLst/>
              <a:ahLst/>
              <a:cxnLst/>
              <a:rect r="r" b="b" t="t" l="l"/>
              <a:pathLst>
                <a:path h="406400" w="1748132">
                  <a:moveTo>
                    <a:pt x="1544932" y="0"/>
                  </a:moveTo>
                  <a:cubicBezTo>
                    <a:pt x="1657156" y="0"/>
                    <a:pt x="1748132" y="90976"/>
                    <a:pt x="1748132" y="203200"/>
                  </a:cubicBezTo>
                  <a:cubicBezTo>
                    <a:pt x="1748132" y="315424"/>
                    <a:pt x="1657156" y="406400"/>
                    <a:pt x="154493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748132" cy="425450"/>
            </a:xfrm>
            <a:prstGeom prst="rect">
              <a:avLst/>
            </a:prstGeom>
          </p:spPr>
          <p:txBody>
            <a:bodyPr anchor="ctr" rtlCol="false" tIns="25942" lIns="25942" bIns="25942" rIns="25942"/>
            <a:lstStyle/>
            <a:p>
              <a:pPr algn="ctr">
                <a:lnSpc>
                  <a:spcPts val="1287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729851" y="5779592"/>
            <a:ext cx="452261" cy="452261"/>
          </a:xfrm>
          <a:custGeom>
            <a:avLst/>
            <a:gdLst/>
            <a:ahLst/>
            <a:cxnLst/>
            <a:rect r="r" b="b" t="t" l="l"/>
            <a:pathLst>
              <a:path h="452261" w="452261">
                <a:moveTo>
                  <a:pt x="0" y="0"/>
                </a:moveTo>
                <a:lnTo>
                  <a:pt x="452261" y="0"/>
                </a:lnTo>
                <a:lnTo>
                  <a:pt x="452261" y="452262"/>
                </a:lnTo>
                <a:lnTo>
                  <a:pt x="0" y="452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815695" y="1142918"/>
            <a:ext cx="1839905" cy="611388"/>
          </a:xfrm>
          <a:custGeom>
            <a:avLst/>
            <a:gdLst/>
            <a:ahLst/>
            <a:cxnLst/>
            <a:rect r="r" b="b" t="t" l="l"/>
            <a:pathLst>
              <a:path h="611388" w="1839905">
                <a:moveTo>
                  <a:pt x="0" y="0"/>
                </a:moveTo>
                <a:lnTo>
                  <a:pt x="1839905" y="0"/>
                </a:lnTo>
                <a:lnTo>
                  <a:pt x="1839905" y="611388"/>
                </a:lnTo>
                <a:lnTo>
                  <a:pt x="0" y="6113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402905" y="1210682"/>
            <a:ext cx="1775071" cy="475859"/>
            <a:chOff x="0" y="0"/>
            <a:chExt cx="713978" cy="1914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3978" cy="191402"/>
            </a:xfrm>
            <a:custGeom>
              <a:avLst/>
              <a:gdLst/>
              <a:ahLst/>
              <a:cxnLst/>
              <a:rect r="r" b="b" t="t" l="l"/>
              <a:pathLst>
                <a:path h="191402" w="713978">
                  <a:moveTo>
                    <a:pt x="0" y="0"/>
                  </a:moveTo>
                  <a:lnTo>
                    <a:pt x="713978" y="0"/>
                  </a:lnTo>
                  <a:lnTo>
                    <a:pt x="713978" y="191402"/>
                  </a:lnTo>
                  <a:lnTo>
                    <a:pt x="0" y="191402"/>
                  </a:lnTo>
                  <a:close/>
                </a:path>
              </a:pathLst>
            </a:custGeom>
            <a:solidFill>
              <a:srgbClr val="8A8A8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713978" cy="219977"/>
            </a:xfrm>
            <a:prstGeom prst="rect">
              <a:avLst/>
            </a:prstGeom>
          </p:spPr>
          <p:txBody>
            <a:bodyPr anchor="ctr" rtlCol="false" tIns="25942" lIns="25942" bIns="25942" rIns="25942"/>
            <a:lstStyle/>
            <a:p>
              <a:pPr algn="ctr">
                <a:lnSpc>
                  <a:spcPts val="173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87710" y="1856362"/>
            <a:ext cx="3495875" cy="842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8"/>
              </a:lnSpc>
            </a:pPr>
            <a:r>
              <a:rPr lang="en-US" b="true" sz="2441">
                <a:solidFill>
                  <a:srgbClr val="7B090D"/>
                </a:solidFill>
                <a:latin typeface="Manrope Bold"/>
                <a:ea typeface="Manrope Bold"/>
                <a:cs typeface="Manrope Bold"/>
                <a:sym typeface="Manrope Bold"/>
              </a:rPr>
              <a:t>Business Intelligence Analyst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07460" y="817998"/>
            <a:ext cx="3840245" cy="476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37008" indent="-118504" lvl="1">
              <a:lnSpc>
                <a:spcPts val="1536"/>
              </a:lnSpc>
              <a:buFont typeface="Arial"/>
              <a:buChar char="•"/>
            </a:pPr>
            <a:r>
              <a:rPr lang="en-US" sz="1097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Responsable de transformar datos en insights que generen valor para la organización. </a:t>
            </a:r>
          </a:p>
          <a:p>
            <a:pPr algn="just" marL="237008" indent="-118504" lvl="1">
              <a:lnSpc>
                <a:spcPts val="1536"/>
              </a:lnSpc>
              <a:buFont typeface="Arial"/>
              <a:buChar char="•"/>
            </a:pPr>
            <a:r>
              <a:rPr lang="en-US" sz="1097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Brindar soporte a la toma de decisiones estratégicas mediante el análisis de datos, la generación de informes relevantes</a:t>
            </a:r>
          </a:p>
          <a:p>
            <a:pPr algn="just" marL="237008" indent="-118504" lvl="1">
              <a:lnSpc>
                <a:spcPts val="1536"/>
              </a:lnSpc>
              <a:buFont typeface="Arial"/>
              <a:buChar char="•"/>
            </a:pPr>
            <a:r>
              <a:rPr lang="en-US" sz="1097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Desarrollar dashboards o modelos para proyectar ingresos, gastos y otros indicadores clave.</a:t>
            </a:r>
          </a:p>
          <a:p>
            <a:pPr algn="just" marL="237008" indent="-118504" lvl="1">
              <a:lnSpc>
                <a:spcPts val="1536"/>
              </a:lnSpc>
              <a:buFont typeface="Arial"/>
              <a:buChar char="•"/>
            </a:pPr>
            <a:r>
              <a:rPr lang="en-US" sz="1097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Analizar estados financieros, KPIs operativos y métricas de desempeño del negocio.</a:t>
            </a:r>
          </a:p>
          <a:p>
            <a:pPr algn="just" marL="237008" indent="-118504" lvl="1">
              <a:lnSpc>
                <a:spcPts val="1536"/>
              </a:lnSpc>
              <a:buFont typeface="Arial"/>
              <a:buChar char="•"/>
            </a:pPr>
            <a:r>
              <a:rPr lang="en-US" sz="1097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Diseñar, actualizar y mantener dashboards e informes utilizando herramientas de BI (Power BI u otras).</a:t>
            </a:r>
          </a:p>
          <a:p>
            <a:pPr algn="just">
              <a:lnSpc>
                <a:spcPts val="1536"/>
              </a:lnSpc>
            </a:pPr>
          </a:p>
          <a:p>
            <a:pPr algn="just">
              <a:lnSpc>
                <a:spcPts val="1536"/>
              </a:lnSpc>
            </a:pPr>
            <a:r>
              <a:rPr lang="en-US" sz="1097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      </a:t>
            </a:r>
            <a:r>
              <a:rPr lang="en-US" b="true" sz="1097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REQUISITOS</a:t>
            </a:r>
          </a:p>
          <a:p>
            <a:pPr algn="just" marL="237008" indent="-118504" lvl="1">
              <a:lnSpc>
                <a:spcPts val="1536"/>
              </a:lnSpc>
              <a:buFont typeface="Arial"/>
              <a:buChar char="•"/>
            </a:pPr>
            <a:r>
              <a:rPr lang="en-US" sz="1097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Profesional en Ingeniería Industrial</a:t>
            </a:r>
          </a:p>
          <a:p>
            <a:pPr algn="just" marL="237008" indent="-118504" lvl="1">
              <a:lnSpc>
                <a:spcPts val="1536"/>
              </a:lnSpc>
              <a:buFont typeface="Arial"/>
              <a:buChar char="•"/>
            </a:pPr>
            <a:r>
              <a:rPr lang="en-US" sz="1097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Más de 2 años de experiencia en cargos de apoyo a procesos </a:t>
            </a:r>
          </a:p>
          <a:p>
            <a:pPr algn="just">
              <a:lnSpc>
                <a:spcPts val="1536"/>
              </a:lnSpc>
            </a:pPr>
            <a:r>
              <a:rPr lang="en-US" sz="1097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      y análisis de indicadores.</a:t>
            </a:r>
          </a:p>
          <a:p>
            <a:pPr algn="just" marL="237008" indent="-118504" lvl="1">
              <a:lnSpc>
                <a:spcPts val="1536"/>
              </a:lnSpc>
              <a:buFont typeface="Arial"/>
              <a:buChar char="•"/>
            </a:pPr>
            <a:r>
              <a:rPr lang="en-US" b="true" sz="1097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Enfoque y experiencia Financiera</a:t>
            </a:r>
          </a:p>
          <a:p>
            <a:pPr algn="just" marL="237008" indent="-118504" lvl="1">
              <a:lnSpc>
                <a:spcPts val="1536"/>
              </a:lnSpc>
              <a:buFont typeface="Arial"/>
              <a:buChar char="•"/>
            </a:pPr>
            <a:r>
              <a:rPr lang="en-US" sz="1097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Certificación o cursos en gestión y optimización de procesos (Lean, BPM, Kaizen o equivalentes).</a:t>
            </a:r>
          </a:p>
          <a:p>
            <a:pPr algn="just" marL="237008" indent="-118504" lvl="1">
              <a:lnSpc>
                <a:spcPts val="1536"/>
              </a:lnSpc>
              <a:buFont typeface="Arial"/>
              <a:buChar char="•"/>
            </a:pPr>
            <a:r>
              <a:rPr lang="en-US" sz="1097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Conocimientos en análisis y visualización de datos </a:t>
            </a:r>
            <a:r>
              <a:rPr lang="en-US" b="true" sz="1097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(Power BI, Excel avanzado).</a:t>
            </a:r>
          </a:p>
          <a:p>
            <a:pPr algn="just" marL="237008" indent="-118504" lvl="1">
              <a:lnSpc>
                <a:spcPts val="1536"/>
              </a:lnSpc>
              <a:buFont typeface="Arial"/>
              <a:buChar char="•"/>
            </a:pPr>
            <a:r>
              <a:rPr lang="en-US" b="true" sz="1097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Nivel de Inglés C1</a:t>
            </a:r>
          </a:p>
          <a:p>
            <a:pPr algn="just">
              <a:lnSpc>
                <a:spcPts val="174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871809" y="5875522"/>
            <a:ext cx="3906314" cy="2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</a:pPr>
            <a:r>
              <a:rPr lang="en-US" b="true" sz="1479" spc="-14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workwithus@4garchitecture.com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99053" y="1237130"/>
            <a:ext cx="1582774" cy="375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3"/>
              </a:lnSpc>
              <a:spcBef>
                <a:spcPct val="0"/>
              </a:spcBef>
            </a:pPr>
            <a:r>
              <a:rPr lang="en-US" b="true" sz="1066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Salario</a:t>
            </a:r>
          </a:p>
          <a:p>
            <a:pPr algn="ctr">
              <a:lnSpc>
                <a:spcPts val="1493"/>
              </a:lnSpc>
              <a:spcBef>
                <a:spcPct val="0"/>
              </a:spcBef>
            </a:pPr>
            <a:r>
              <a:rPr lang="en-US" b="true" sz="1066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$5.0 MM COP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294082" y="798838"/>
            <a:ext cx="189621" cy="276315"/>
          </a:xfrm>
          <a:custGeom>
            <a:avLst/>
            <a:gdLst/>
            <a:ahLst/>
            <a:cxnLst/>
            <a:rect r="r" b="b" t="t" l="l"/>
            <a:pathLst>
              <a:path h="276315" w="189621">
                <a:moveTo>
                  <a:pt x="0" y="0"/>
                </a:moveTo>
                <a:lnTo>
                  <a:pt x="189621" y="0"/>
                </a:lnTo>
                <a:lnTo>
                  <a:pt x="189621" y="276315"/>
                </a:lnTo>
                <a:lnTo>
                  <a:pt x="0" y="2763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535949" y="760738"/>
            <a:ext cx="3443629" cy="29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4"/>
              </a:lnSpc>
            </a:pPr>
            <a:r>
              <a:rPr lang="en-US" sz="1717" i="true" spc="85">
                <a:solidFill>
                  <a:srgbClr val="8F1B18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BARRANQUILLA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7091869" y="1624176"/>
            <a:ext cx="6155803" cy="5886487"/>
          </a:xfrm>
          <a:custGeom>
            <a:avLst/>
            <a:gdLst/>
            <a:ahLst/>
            <a:cxnLst/>
            <a:rect r="r" b="b" t="t" l="l"/>
            <a:pathLst>
              <a:path h="5886487" w="6155803">
                <a:moveTo>
                  <a:pt x="6155803" y="0"/>
                </a:moveTo>
                <a:lnTo>
                  <a:pt x="0" y="0"/>
                </a:lnTo>
                <a:lnTo>
                  <a:pt x="0" y="5886487"/>
                </a:lnTo>
                <a:lnTo>
                  <a:pt x="6155803" y="5886487"/>
                </a:lnTo>
                <a:lnTo>
                  <a:pt x="6155803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17936" y="2506950"/>
            <a:ext cx="3547866" cy="3840721"/>
          </a:xfrm>
          <a:custGeom>
            <a:avLst/>
            <a:gdLst/>
            <a:ahLst/>
            <a:cxnLst/>
            <a:rect r="r" b="b" t="t" l="l"/>
            <a:pathLst>
              <a:path h="3840721" w="3547866">
                <a:moveTo>
                  <a:pt x="0" y="0"/>
                </a:moveTo>
                <a:lnTo>
                  <a:pt x="3547866" y="0"/>
                </a:lnTo>
                <a:lnTo>
                  <a:pt x="3547866" y="3840721"/>
                </a:lnTo>
                <a:lnTo>
                  <a:pt x="0" y="38407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789696" y="3248673"/>
            <a:ext cx="2604345" cy="2357274"/>
            <a:chOff x="0" y="0"/>
            <a:chExt cx="3472460" cy="3143032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5"/>
            <a:srcRect l="0" t="19345" r="41522" b="0"/>
            <a:stretch>
              <a:fillRect/>
            </a:stretch>
          </p:blipFill>
          <p:spPr>
            <a:xfrm flipH="false" flipV="false">
              <a:off x="0" y="0"/>
              <a:ext cx="3472460" cy="3143032"/>
            </a:xfrm>
            <a:prstGeom prst="rect">
              <a:avLst/>
            </a:prstGeom>
          </p:spPr>
        </p:pic>
      </p:grpSp>
      <p:sp>
        <p:nvSpPr>
          <p:cNvPr name="Freeform 6" id="6"/>
          <p:cNvSpPr/>
          <p:nvPr/>
        </p:nvSpPr>
        <p:spPr>
          <a:xfrm flipH="false" flipV="false" rot="0">
            <a:off x="3515926" y="6013626"/>
            <a:ext cx="211984" cy="160843"/>
          </a:xfrm>
          <a:custGeom>
            <a:avLst/>
            <a:gdLst/>
            <a:ahLst/>
            <a:cxnLst/>
            <a:rect r="r" b="b" t="t" l="l"/>
            <a:pathLst>
              <a:path h="160843" w="211984">
                <a:moveTo>
                  <a:pt x="0" y="0"/>
                </a:moveTo>
                <a:lnTo>
                  <a:pt x="211984" y="0"/>
                </a:lnTo>
                <a:lnTo>
                  <a:pt x="211984" y="160842"/>
                </a:lnTo>
                <a:lnTo>
                  <a:pt x="0" y="1608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15926" y="6267249"/>
            <a:ext cx="211984" cy="160843"/>
          </a:xfrm>
          <a:custGeom>
            <a:avLst/>
            <a:gdLst/>
            <a:ahLst/>
            <a:cxnLst/>
            <a:rect r="r" b="b" t="t" l="l"/>
            <a:pathLst>
              <a:path h="160843" w="211984">
                <a:moveTo>
                  <a:pt x="0" y="0"/>
                </a:moveTo>
                <a:lnTo>
                  <a:pt x="211984" y="0"/>
                </a:lnTo>
                <a:lnTo>
                  <a:pt x="211984" y="160843"/>
                </a:lnTo>
                <a:lnTo>
                  <a:pt x="0" y="1608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382383" y="6696678"/>
            <a:ext cx="1963648" cy="337035"/>
            <a:chOff x="0" y="0"/>
            <a:chExt cx="795230" cy="1364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5230" cy="136491"/>
            </a:xfrm>
            <a:custGeom>
              <a:avLst/>
              <a:gdLst/>
              <a:ahLst/>
              <a:cxnLst/>
              <a:rect r="r" b="b" t="t" l="l"/>
              <a:pathLst>
                <a:path h="136491" w="795230">
                  <a:moveTo>
                    <a:pt x="31541" y="0"/>
                  </a:moveTo>
                  <a:lnTo>
                    <a:pt x="763689" y="0"/>
                  </a:lnTo>
                  <a:cubicBezTo>
                    <a:pt x="781108" y="0"/>
                    <a:pt x="795230" y="14121"/>
                    <a:pt x="795230" y="31541"/>
                  </a:cubicBezTo>
                  <a:lnTo>
                    <a:pt x="795230" y="104950"/>
                  </a:lnTo>
                  <a:cubicBezTo>
                    <a:pt x="795230" y="122370"/>
                    <a:pt x="781108" y="136491"/>
                    <a:pt x="763689" y="136491"/>
                  </a:cubicBezTo>
                  <a:lnTo>
                    <a:pt x="31541" y="136491"/>
                  </a:lnTo>
                  <a:cubicBezTo>
                    <a:pt x="14121" y="136491"/>
                    <a:pt x="0" y="122370"/>
                    <a:pt x="0" y="104950"/>
                  </a:cubicBezTo>
                  <a:lnTo>
                    <a:pt x="0" y="31541"/>
                  </a:lnTo>
                  <a:cubicBezTo>
                    <a:pt x="0" y="14121"/>
                    <a:pt x="14121" y="0"/>
                    <a:pt x="31541" y="0"/>
                  </a:cubicBezTo>
                  <a:close/>
                </a:path>
              </a:pathLst>
            </a:custGeom>
            <a:solidFill>
              <a:srgbClr val="7A030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95230" cy="155541"/>
            </a:xfrm>
            <a:prstGeom prst="rect">
              <a:avLst/>
            </a:prstGeom>
          </p:spPr>
          <p:txBody>
            <a:bodyPr anchor="ctr" rtlCol="false" tIns="24596" lIns="24596" bIns="24596" rIns="24596"/>
            <a:lstStyle/>
            <a:p>
              <a:pPr algn="ctr">
                <a:lnSpc>
                  <a:spcPts val="128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596008" y="6739822"/>
            <a:ext cx="231067" cy="231067"/>
          </a:xfrm>
          <a:custGeom>
            <a:avLst/>
            <a:gdLst/>
            <a:ahLst/>
            <a:cxnLst/>
            <a:rect r="r" b="b" t="t" l="l"/>
            <a:pathLst>
              <a:path h="231067" w="231067">
                <a:moveTo>
                  <a:pt x="0" y="0"/>
                </a:moveTo>
                <a:lnTo>
                  <a:pt x="231067" y="0"/>
                </a:lnTo>
                <a:lnTo>
                  <a:pt x="231067" y="231066"/>
                </a:lnTo>
                <a:lnTo>
                  <a:pt x="0" y="2310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79053" y="951846"/>
            <a:ext cx="2256488" cy="749816"/>
          </a:xfrm>
          <a:custGeom>
            <a:avLst/>
            <a:gdLst/>
            <a:ahLst/>
            <a:cxnLst/>
            <a:rect r="r" b="b" t="t" l="l"/>
            <a:pathLst>
              <a:path h="749816" w="2256488">
                <a:moveTo>
                  <a:pt x="0" y="0"/>
                </a:moveTo>
                <a:lnTo>
                  <a:pt x="2256488" y="0"/>
                </a:lnTo>
                <a:lnTo>
                  <a:pt x="2256488" y="749816"/>
                </a:lnTo>
                <a:lnTo>
                  <a:pt x="0" y="7498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60310" y="269629"/>
            <a:ext cx="162823" cy="237265"/>
          </a:xfrm>
          <a:custGeom>
            <a:avLst/>
            <a:gdLst/>
            <a:ahLst/>
            <a:cxnLst/>
            <a:rect r="r" b="b" t="t" l="l"/>
            <a:pathLst>
              <a:path h="237265" w="162823">
                <a:moveTo>
                  <a:pt x="0" y="0"/>
                </a:moveTo>
                <a:lnTo>
                  <a:pt x="162823" y="0"/>
                </a:lnTo>
                <a:lnTo>
                  <a:pt x="162823" y="237265"/>
                </a:lnTo>
                <a:lnTo>
                  <a:pt x="0" y="2372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160310" y="617666"/>
            <a:ext cx="2136158" cy="575745"/>
            <a:chOff x="0" y="0"/>
            <a:chExt cx="777685" cy="2096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7685" cy="209604"/>
            </a:xfrm>
            <a:custGeom>
              <a:avLst/>
              <a:gdLst/>
              <a:ahLst/>
              <a:cxnLst/>
              <a:rect r="r" b="b" t="t" l="l"/>
              <a:pathLst>
                <a:path h="209604" w="777685">
                  <a:moveTo>
                    <a:pt x="0" y="0"/>
                  </a:moveTo>
                  <a:lnTo>
                    <a:pt x="777685" y="0"/>
                  </a:lnTo>
                  <a:lnTo>
                    <a:pt x="777685" y="209604"/>
                  </a:lnTo>
                  <a:lnTo>
                    <a:pt x="0" y="209604"/>
                  </a:lnTo>
                  <a:close/>
                </a:path>
              </a:pathLst>
            </a:custGeom>
            <a:solidFill>
              <a:srgbClr val="8A8A8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77685" cy="247704"/>
            </a:xfrm>
            <a:prstGeom prst="rect">
              <a:avLst/>
            </a:prstGeom>
          </p:spPr>
          <p:txBody>
            <a:bodyPr anchor="ctr" rtlCol="false" tIns="24596" lIns="24596" bIns="24596" rIns="24596"/>
            <a:lstStyle/>
            <a:p>
              <a:pPr algn="ctr">
                <a:lnSpc>
                  <a:spcPts val="16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454164" y="6696706"/>
            <a:ext cx="4315846" cy="27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b="true" sz="1634" spc="-16">
                <a:solidFill>
                  <a:srgbClr val="191415"/>
                </a:solidFill>
                <a:latin typeface="Poppins Bold"/>
                <a:ea typeface="Poppins Bold"/>
                <a:cs typeface="Poppins Bold"/>
                <a:sym typeface="Poppins Bold"/>
              </a:rPr>
              <a:t>workwithus@4garchitecture.com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1520" y="3164047"/>
            <a:ext cx="4166288" cy="216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4859" indent="-147430" lvl="1">
              <a:lnSpc>
                <a:spcPts val="1912"/>
              </a:lnSpc>
              <a:buFont typeface="Arial"/>
              <a:buChar char="•"/>
            </a:pPr>
            <a:r>
              <a:rPr lang="en-US" sz="1365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Profesional en Arquitectura o carreras afines.</a:t>
            </a:r>
          </a:p>
          <a:p>
            <a:pPr algn="l" marL="294859" indent="-147430" lvl="1">
              <a:lnSpc>
                <a:spcPts val="1912"/>
              </a:lnSpc>
              <a:buFont typeface="Arial"/>
              <a:buChar char="•"/>
            </a:pPr>
            <a:r>
              <a:rPr lang="en-US" sz="1365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Manejo Intermedio - avanzado de CAD y REVIT.</a:t>
            </a:r>
          </a:p>
          <a:p>
            <a:pPr algn="l" marL="294859" indent="-147430" lvl="1">
              <a:lnSpc>
                <a:spcPts val="1912"/>
              </a:lnSpc>
              <a:buFont typeface="Arial"/>
              <a:buChar char="•"/>
            </a:pPr>
            <a:r>
              <a:rPr lang="en-US" sz="1365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Experiencia de más de 3 años en manejo de equipos de trabajo.</a:t>
            </a:r>
          </a:p>
          <a:p>
            <a:pPr algn="l" marL="294859" indent="-147430" lvl="1">
              <a:lnSpc>
                <a:spcPts val="1912"/>
              </a:lnSpc>
              <a:buFont typeface="Arial"/>
              <a:buChar char="•"/>
            </a:pPr>
            <a:r>
              <a:rPr lang="en-US" sz="1365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Conocimiento de metodología BIM en proyectos de construcción </a:t>
            </a:r>
          </a:p>
          <a:p>
            <a:pPr algn="l" marL="294859" indent="-147430" lvl="1">
              <a:lnSpc>
                <a:spcPts val="1912"/>
              </a:lnSpc>
              <a:spcBef>
                <a:spcPct val="0"/>
              </a:spcBef>
              <a:buFont typeface="Arial"/>
              <a:buChar char="•"/>
            </a:pPr>
            <a:r>
              <a:rPr lang="en-US" sz="1365">
                <a:solidFill>
                  <a:srgbClr val="191415"/>
                </a:solidFill>
                <a:latin typeface="Gotham"/>
                <a:ea typeface="Gotham"/>
                <a:cs typeface="Gotham"/>
                <a:sym typeface="Gotham"/>
              </a:rPr>
              <a:t> Inglés avanzado nivel B2 - C1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5125" y="1857191"/>
            <a:ext cx="4386384" cy="400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2"/>
              </a:lnSpc>
              <a:spcBef>
                <a:spcPct val="0"/>
              </a:spcBef>
            </a:pPr>
            <a:r>
              <a:rPr lang="en-US" b="true" sz="2287">
                <a:solidFill>
                  <a:srgbClr val="8E0303"/>
                </a:solidFill>
                <a:latin typeface="Gotham Bold"/>
                <a:ea typeface="Gotham Bold"/>
                <a:cs typeface="Gotham Bold"/>
                <a:sym typeface="Gotham Bold"/>
              </a:rPr>
              <a:t>PROJECT MANAGER SENIOR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60528" y="6730297"/>
            <a:ext cx="1407358" cy="25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2"/>
              </a:lnSpc>
            </a:pPr>
            <a:r>
              <a:rPr lang="en-US" b="true" sz="1601" spc="-5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APPLY NOW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59157" y="231529"/>
            <a:ext cx="2956958" cy="26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1474" i="true" spc="73">
                <a:solidFill>
                  <a:srgbClr val="94191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BARRANQUILLA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54035" y="675686"/>
            <a:ext cx="1748709" cy="42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0"/>
              </a:lnSpc>
              <a:spcBef>
                <a:spcPct val="0"/>
              </a:spcBef>
            </a:pPr>
            <a:r>
              <a:rPr lang="en-US" b="true" sz="1178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Salario</a:t>
            </a:r>
          </a:p>
          <a:p>
            <a:pPr algn="ctr">
              <a:lnSpc>
                <a:spcPts val="1650"/>
              </a:lnSpc>
              <a:spcBef>
                <a:spcPct val="0"/>
              </a:spcBef>
            </a:pPr>
            <a:r>
              <a:rPr lang="en-US" b="true" sz="1178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$7.0 MM COP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6800" y="2597937"/>
            <a:ext cx="1271242" cy="34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b="true" sz="1963">
                <a:solidFill>
                  <a:srgbClr val="19141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Requisitos: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09198" y="-208290"/>
            <a:ext cx="22847416" cy="2048597"/>
            <a:chOff x="0" y="0"/>
            <a:chExt cx="10828671" cy="970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28671" cy="970945"/>
            </a:xfrm>
            <a:custGeom>
              <a:avLst/>
              <a:gdLst/>
              <a:ahLst/>
              <a:cxnLst/>
              <a:rect r="r" b="b" t="t" l="l"/>
              <a:pathLst>
                <a:path h="970945" w="10828671">
                  <a:moveTo>
                    <a:pt x="0" y="0"/>
                  </a:moveTo>
                  <a:lnTo>
                    <a:pt x="10828671" y="0"/>
                  </a:lnTo>
                  <a:lnTo>
                    <a:pt x="10828671" y="970945"/>
                  </a:lnTo>
                  <a:lnTo>
                    <a:pt x="0" y="970945"/>
                  </a:lnTo>
                  <a:close/>
                </a:path>
              </a:pathLst>
            </a:custGeom>
            <a:solidFill>
              <a:srgbClr val="FF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828671" cy="999520"/>
            </a:xfrm>
            <a:prstGeom prst="rect">
              <a:avLst/>
            </a:prstGeom>
          </p:spPr>
          <p:txBody>
            <a:bodyPr anchor="ctr" rtlCol="false" tIns="28229" lIns="28229" bIns="28229" rIns="28229"/>
            <a:lstStyle/>
            <a:p>
              <a:pPr algn="ctr">
                <a:lnSpc>
                  <a:spcPts val="132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24478" y="1883980"/>
            <a:ext cx="2171512" cy="4153448"/>
            <a:chOff x="0" y="0"/>
            <a:chExt cx="1108749" cy="21207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8749" cy="2120703"/>
            </a:xfrm>
            <a:custGeom>
              <a:avLst/>
              <a:gdLst/>
              <a:ahLst/>
              <a:cxnLst/>
              <a:rect r="r" b="b" t="t" l="l"/>
              <a:pathLst>
                <a:path h="2120703" w="1108749">
                  <a:moveTo>
                    <a:pt x="167565" y="0"/>
                  </a:moveTo>
                  <a:lnTo>
                    <a:pt x="941183" y="0"/>
                  </a:lnTo>
                  <a:cubicBezTo>
                    <a:pt x="985625" y="0"/>
                    <a:pt x="1028245" y="17654"/>
                    <a:pt x="1059670" y="49079"/>
                  </a:cubicBezTo>
                  <a:cubicBezTo>
                    <a:pt x="1091095" y="80503"/>
                    <a:pt x="1108749" y="123124"/>
                    <a:pt x="1108749" y="167565"/>
                  </a:cubicBezTo>
                  <a:lnTo>
                    <a:pt x="1108749" y="1953137"/>
                  </a:lnTo>
                  <a:cubicBezTo>
                    <a:pt x="1108749" y="2045681"/>
                    <a:pt x="1033727" y="2120703"/>
                    <a:pt x="941183" y="2120703"/>
                  </a:cubicBezTo>
                  <a:lnTo>
                    <a:pt x="167565" y="2120703"/>
                  </a:lnTo>
                  <a:cubicBezTo>
                    <a:pt x="123124" y="2120703"/>
                    <a:pt x="80503" y="2103048"/>
                    <a:pt x="49079" y="2071624"/>
                  </a:cubicBezTo>
                  <a:cubicBezTo>
                    <a:pt x="17654" y="2040199"/>
                    <a:pt x="0" y="1997578"/>
                    <a:pt x="0" y="1953137"/>
                  </a:cubicBezTo>
                  <a:lnTo>
                    <a:pt x="0" y="167565"/>
                  </a:lnTo>
                  <a:cubicBezTo>
                    <a:pt x="0" y="123124"/>
                    <a:pt x="17654" y="80503"/>
                    <a:pt x="49079" y="49079"/>
                  </a:cubicBezTo>
                  <a:cubicBezTo>
                    <a:pt x="80503" y="17654"/>
                    <a:pt x="123124" y="0"/>
                    <a:pt x="1675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08749" cy="2149278"/>
            </a:xfrm>
            <a:prstGeom prst="rect">
              <a:avLst/>
            </a:prstGeom>
          </p:spPr>
          <p:txBody>
            <a:bodyPr anchor="ctr" rtlCol="false" tIns="28229" lIns="28229" bIns="28229" rIns="28229"/>
            <a:lstStyle/>
            <a:p>
              <a:pPr algn="ctr">
                <a:lnSpc>
                  <a:spcPts val="132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5951" y="1972140"/>
            <a:ext cx="1988564" cy="3977128"/>
            <a:chOff x="0" y="0"/>
            <a:chExt cx="317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2667000" y="6350000"/>
                  </a:moveTo>
                  <a:lnTo>
                    <a:pt x="508000" y="6350000"/>
                  </a:lnTo>
                  <a:cubicBezTo>
                    <a:pt x="227330" y="6350000"/>
                    <a:pt x="0" y="6122670"/>
                    <a:pt x="0" y="5842000"/>
                  </a:cubicBezTo>
                  <a:lnTo>
                    <a:pt x="0" y="508000"/>
                  </a:lnTo>
                  <a:cubicBezTo>
                    <a:pt x="0" y="227330"/>
                    <a:pt x="227330" y="0"/>
                    <a:pt x="508000" y="0"/>
                  </a:cubicBezTo>
                  <a:lnTo>
                    <a:pt x="2667000" y="0"/>
                  </a:lnTo>
                  <a:cubicBezTo>
                    <a:pt x="2947670" y="0"/>
                    <a:pt x="3175000" y="227330"/>
                    <a:pt x="3175000" y="508000"/>
                  </a:cubicBezTo>
                  <a:lnTo>
                    <a:pt x="3175000" y="5842000"/>
                  </a:lnTo>
                  <a:cubicBezTo>
                    <a:pt x="3175000" y="6122670"/>
                    <a:pt x="2947670" y="6350000"/>
                    <a:pt x="26670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5000" t="0" r="-2500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144334" y="5422839"/>
            <a:ext cx="329177" cy="329177"/>
          </a:xfrm>
          <a:custGeom>
            <a:avLst/>
            <a:gdLst/>
            <a:ahLst/>
            <a:cxnLst/>
            <a:rect r="r" b="b" t="t" l="l"/>
            <a:pathLst>
              <a:path h="329177" w="329177">
                <a:moveTo>
                  <a:pt x="0" y="0"/>
                </a:moveTo>
                <a:lnTo>
                  <a:pt x="329177" y="0"/>
                </a:lnTo>
                <a:lnTo>
                  <a:pt x="329177" y="329176"/>
                </a:lnTo>
                <a:lnTo>
                  <a:pt x="0" y="329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3289" y="1652900"/>
            <a:ext cx="3434439" cy="1141241"/>
          </a:xfrm>
          <a:custGeom>
            <a:avLst/>
            <a:gdLst/>
            <a:ahLst/>
            <a:cxnLst/>
            <a:rect r="r" b="b" t="t" l="l"/>
            <a:pathLst>
              <a:path h="1141241" w="3434439">
                <a:moveTo>
                  <a:pt x="0" y="0"/>
                </a:moveTo>
                <a:lnTo>
                  <a:pt x="3434440" y="0"/>
                </a:lnTo>
                <a:lnTo>
                  <a:pt x="3434440" y="1141241"/>
                </a:lnTo>
                <a:lnTo>
                  <a:pt x="0" y="1141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45284" y="888316"/>
            <a:ext cx="139125" cy="202733"/>
          </a:xfrm>
          <a:custGeom>
            <a:avLst/>
            <a:gdLst/>
            <a:ahLst/>
            <a:cxnLst/>
            <a:rect r="r" b="b" t="t" l="l"/>
            <a:pathLst>
              <a:path h="202733" w="139125">
                <a:moveTo>
                  <a:pt x="0" y="0"/>
                </a:moveTo>
                <a:lnTo>
                  <a:pt x="139125" y="0"/>
                </a:lnTo>
                <a:lnTo>
                  <a:pt x="139125" y="202733"/>
                </a:lnTo>
                <a:lnTo>
                  <a:pt x="0" y="2027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445284" y="1267792"/>
            <a:ext cx="1675735" cy="449229"/>
            <a:chOff x="0" y="0"/>
            <a:chExt cx="713978" cy="1914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3978" cy="191402"/>
            </a:xfrm>
            <a:custGeom>
              <a:avLst/>
              <a:gdLst/>
              <a:ahLst/>
              <a:cxnLst/>
              <a:rect r="r" b="b" t="t" l="l"/>
              <a:pathLst>
                <a:path h="191402" w="713978">
                  <a:moveTo>
                    <a:pt x="0" y="0"/>
                  </a:moveTo>
                  <a:lnTo>
                    <a:pt x="713978" y="0"/>
                  </a:lnTo>
                  <a:lnTo>
                    <a:pt x="713978" y="191402"/>
                  </a:lnTo>
                  <a:lnTo>
                    <a:pt x="0" y="191402"/>
                  </a:lnTo>
                  <a:close/>
                </a:path>
              </a:pathLst>
            </a:custGeom>
            <a:solidFill>
              <a:srgbClr val="8A8A8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713978" cy="219977"/>
            </a:xfrm>
            <a:prstGeom prst="rect">
              <a:avLst/>
            </a:prstGeom>
          </p:spPr>
          <p:txBody>
            <a:bodyPr anchor="ctr" rtlCol="false" tIns="28229" lIns="28229" bIns="28229" rIns="28229"/>
            <a:lstStyle/>
            <a:p>
              <a:pPr algn="ctr">
                <a:lnSpc>
                  <a:spcPts val="1882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04322" y="2937641"/>
            <a:ext cx="2640012" cy="282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4"/>
              </a:lnSpc>
            </a:pPr>
            <a:r>
              <a:rPr lang="en-US" sz="1624" b="true">
                <a:solidFill>
                  <a:srgbClr val="7B090D"/>
                </a:solidFill>
                <a:latin typeface="Poppins Bold"/>
                <a:ea typeface="Poppins Bold"/>
                <a:cs typeface="Poppins Bold"/>
                <a:sym typeface="Poppins Bold"/>
              </a:rPr>
              <a:t>CONSULTANT SENIOR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99790" y="2144680"/>
            <a:ext cx="3917149" cy="261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9675" indent="-159837" lvl="1">
              <a:lnSpc>
                <a:spcPts val="2072"/>
              </a:lnSpc>
              <a:buFont typeface="Arial"/>
              <a:buChar char="•"/>
            </a:pPr>
            <a:r>
              <a:rPr lang="en-US" sz="148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Profesional en Arquitectura.</a:t>
            </a:r>
          </a:p>
          <a:p>
            <a:pPr algn="l" marL="319675" indent="-159837" lvl="1">
              <a:lnSpc>
                <a:spcPts val="2072"/>
              </a:lnSpc>
              <a:buFont typeface="Arial"/>
              <a:buChar char="•"/>
            </a:pPr>
            <a:r>
              <a:rPr lang="en-US" b="true" sz="148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Manejo de Revit y AutoCAD Avanzado</a:t>
            </a:r>
          </a:p>
          <a:p>
            <a:pPr algn="l" marL="319675" indent="-159837" lvl="1">
              <a:lnSpc>
                <a:spcPts val="2072"/>
              </a:lnSpc>
              <a:buFont typeface="Arial"/>
              <a:buChar char="•"/>
            </a:pPr>
            <a:r>
              <a:rPr lang="en-US" sz="148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Experiencia por más de 2 años liderando equipos de trabajo. </a:t>
            </a:r>
          </a:p>
          <a:p>
            <a:pPr algn="l" marL="319675" indent="-159837" lvl="1">
              <a:lnSpc>
                <a:spcPts val="2072"/>
              </a:lnSpc>
              <a:buFont typeface="Arial"/>
              <a:buChar char="•"/>
            </a:pPr>
            <a:r>
              <a:rPr lang="en-US" sz="148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Experiencia en desarrollo de documentos de planimetría técnica de proyectos.</a:t>
            </a:r>
          </a:p>
          <a:p>
            <a:pPr algn="l" marL="319675" indent="-159837" lvl="1">
              <a:lnSpc>
                <a:spcPts val="2072"/>
              </a:lnSpc>
              <a:buFont typeface="Arial"/>
              <a:buChar char="•"/>
            </a:pPr>
            <a:r>
              <a:rPr lang="en-US" b="true" sz="148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Experiencia BIM en Obra </a:t>
            </a:r>
          </a:p>
          <a:p>
            <a:pPr algn="l" marL="319675" indent="-159837" lvl="1">
              <a:lnSpc>
                <a:spcPts val="207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8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Inglés avanzado nivel B2 - C1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68849" y="877471"/>
            <a:ext cx="2526598" cy="21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260" i="true" spc="63">
                <a:solidFill>
                  <a:srgbClr val="94191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BARRANQUILLA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65964" y="5458841"/>
            <a:ext cx="3687711" cy="24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5"/>
              </a:lnSpc>
            </a:pPr>
            <a:r>
              <a:rPr lang="en-US" b="true" sz="1396" spc="-13">
                <a:solidFill>
                  <a:srgbClr val="191415"/>
                </a:solidFill>
                <a:latin typeface="Poppins Bold"/>
                <a:ea typeface="Poppins Bold"/>
                <a:cs typeface="Poppins Bold"/>
                <a:sym typeface="Poppins Bold"/>
              </a:rPr>
              <a:t>workwithus@4garchitecture.com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63133" y="1296636"/>
            <a:ext cx="1494200" cy="35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0"/>
              </a:lnSpc>
              <a:spcBef>
                <a:spcPct val="0"/>
              </a:spcBef>
            </a:pPr>
            <a:r>
              <a:rPr lang="en-US" b="true" sz="1007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Salario</a:t>
            </a:r>
          </a:p>
          <a:p>
            <a:pPr algn="ctr">
              <a:lnSpc>
                <a:spcPts val="1410"/>
              </a:lnSpc>
              <a:spcBef>
                <a:spcPct val="0"/>
              </a:spcBef>
            </a:pPr>
            <a:r>
              <a:rPr lang="en-US" b="true" sz="1007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$6.8 MM COP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13384" y="1626994"/>
            <a:ext cx="1271242" cy="34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b="true" sz="1963">
                <a:solidFill>
                  <a:srgbClr val="19141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Requisitos: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63353" y="5362140"/>
            <a:ext cx="23056851" cy="2048597"/>
            <a:chOff x="0" y="0"/>
            <a:chExt cx="10927934" cy="970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27934" cy="970945"/>
            </a:xfrm>
            <a:custGeom>
              <a:avLst/>
              <a:gdLst/>
              <a:ahLst/>
              <a:cxnLst/>
              <a:rect r="r" b="b" t="t" l="l"/>
              <a:pathLst>
                <a:path h="970945" w="10927934">
                  <a:moveTo>
                    <a:pt x="0" y="0"/>
                  </a:moveTo>
                  <a:lnTo>
                    <a:pt x="10927934" y="0"/>
                  </a:lnTo>
                  <a:lnTo>
                    <a:pt x="10927934" y="970945"/>
                  </a:lnTo>
                  <a:lnTo>
                    <a:pt x="0" y="970945"/>
                  </a:lnTo>
                  <a:close/>
                </a:path>
              </a:pathLst>
            </a:custGeom>
            <a:solidFill>
              <a:srgbClr val="FF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927934" cy="999520"/>
            </a:xfrm>
            <a:prstGeom prst="rect">
              <a:avLst/>
            </a:prstGeom>
          </p:spPr>
          <p:txBody>
            <a:bodyPr anchor="ctr" rtlCol="false" tIns="28229" lIns="28229" bIns="28229" rIns="28229"/>
            <a:lstStyle/>
            <a:p>
              <a:pPr algn="ctr">
                <a:lnSpc>
                  <a:spcPts val="132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40671" y="1565849"/>
            <a:ext cx="2387778" cy="2843791"/>
            <a:chOff x="0" y="0"/>
            <a:chExt cx="3175000" cy="37813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3781355"/>
            </a:xfrm>
            <a:custGeom>
              <a:avLst/>
              <a:gdLst/>
              <a:ahLst/>
              <a:cxnLst/>
              <a:rect r="r" b="b" t="t" l="l"/>
              <a:pathLst>
                <a:path h="3781355" w="3175000">
                  <a:moveTo>
                    <a:pt x="2667000" y="3781355"/>
                  </a:moveTo>
                  <a:lnTo>
                    <a:pt x="508000" y="3781355"/>
                  </a:lnTo>
                  <a:cubicBezTo>
                    <a:pt x="227330" y="3781355"/>
                    <a:pt x="0" y="3645983"/>
                    <a:pt x="0" y="3478847"/>
                  </a:cubicBezTo>
                  <a:lnTo>
                    <a:pt x="0" y="302508"/>
                  </a:lnTo>
                  <a:cubicBezTo>
                    <a:pt x="0" y="135373"/>
                    <a:pt x="227330" y="0"/>
                    <a:pt x="508000" y="0"/>
                  </a:cubicBezTo>
                  <a:lnTo>
                    <a:pt x="2667000" y="0"/>
                  </a:lnTo>
                  <a:cubicBezTo>
                    <a:pt x="2947670" y="0"/>
                    <a:pt x="3175000" y="135373"/>
                    <a:pt x="3175000" y="302508"/>
                  </a:cubicBezTo>
                  <a:lnTo>
                    <a:pt x="3175000" y="3478847"/>
                  </a:lnTo>
                  <a:cubicBezTo>
                    <a:pt x="3175000" y="3645983"/>
                    <a:pt x="2947670" y="3781355"/>
                    <a:pt x="2667000" y="3781355"/>
                  </a:cubicBezTo>
                  <a:close/>
                </a:path>
              </a:pathLst>
            </a:custGeom>
            <a:blipFill>
              <a:blip r:embed="rId2"/>
              <a:stretch>
                <a:fillRect l="0" t="-13131" r="0" b="-1313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219132" y="6419092"/>
            <a:ext cx="329177" cy="329177"/>
          </a:xfrm>
          <a:custGeom>
            <a:avLst/>
            <a:gdLst/>
            <a:ahLst/>
            <a:cxnLst/>
            <a:rect r="r" b="b" t="t" l="l"/>
            <a:pathLst>
              <a:path h="329177" w="329177">
                <a:moveTo>
                  <a:pt x="0" y="0"/>
                </a:moveTo>
                <a:lnTo>
                  <a:pt x="329177" y="0"/>
                </a:lnTo>
                <a:lnTo>
                  <a:pt x="329177" y="329176"/>
                </a:lnTo>
                <a:lnTo>
                  <a:pt x="0" y="329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8816" y="276625"/>
            <a:ext cx="3434439" cy="1141241"/>
          </a:xfrm>
          <a:custGeom>
            <a:avLst/>
            <a:gdLst/>
            <a:ahLst/>
            <a:cxnLst/>
            <a:rect r="r" b="b" t="t" l="l"/>
            <a:pathLst>
              <a:path h="1141241" w="3434439">
                <a:moveTo>
                  <a:pt x="0" y="0"/>
                </a:moveTo>
                <a:lnTo>
                  <a:pt x="3434439" y="0"/>
                </a:lnTo>
                <a:lnTo>
                  <a:pt x="3434439" y="1141241"/>
                </a:lnTo>
                <a:lnTo>
                  <a:pt x="0" y="1141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519070" y="731520"/>
            <a:ext cx="1765614" cy="537106"/>
            <a:chOff x="0" y="0"/>
            <a:chExt cx="752272" cy="2288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2272" cy="228844"/>
            </a:xfrm>
            <a:custGeom>
              <a:avLst/>
              <a:gdLst/>
              <a:ahLst/>
              <a:cxnLst/>
              <a:rect r="r" b="b" t="t" l="l"/>
              <a:pathLst>
                <a:path h="228844" w="752272">
                  <a:moveTo>
                    <a:pt x="0" y="0"/>
                  </a:moveTo>
                  <a:lnTo>
                    <a:pt x="752272" y="0"/>
                  </a:lnTo>
                  <a:lnTo>
                    <a:pt x="752272" y="228844"/>
                  </a:lnTo>
                  <a:lnTo>
                    <a:pt x="0" y="228844"/>
                  </a:lnTo>
                  <a:close/>
                </a:path>
              </a:pathLst>
            </a:custGeom>
            <a:solidFill>
              <a:srgbClr val="8A8A8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752272" cy="257419"/>
            </a:xfrm>
            <a:prstGeom prst="rect">
              <a:avLst/>
            </a:prstGeom>
          </p:spPr>
          <p:txBody>
            <a:bodyPr anchor="ctr" rtlCol="false" tIns="28229" lIns="28229" bIns="28229" rIns="28229"/>
            <a:lstStyle/>
            <a:p>
              <a:pPr algn="ctr">
                <a:lnSpc>
                  <a:spcPts val="188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09849" y="1561366"/>
            <a:ext cx="2640012" cy="282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4"/>
              </a:lnSpc>
            </a:pPr>
            <a:r>
              <a:rPr lang="en-US" sz="1624" b="true">
                <a:solidFill>
                  <a:srgbClr val="7B090D"/>
                </a:solidFill>
                <a:latin typeface="Poppins Bold"/>
                <a:ea typeface="Poppins Bold"/>
                <a:cs typeface="Poppins Bold"/>
                <a:sym typeface="Poppins Bold"/>
              </a:rPr>
              <a:t>CFO/Director financiero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40762" y="6455093"/>
            <a:ext cx="3687711" cy="24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5"/>
              </a:lnSpc>
            </a:pPr>
            <a:r>
              <a:rPr lang="en-US" b="true" sz="1396" spc="-13">
                <a:solidFill>
                  <a:srgbClr val="191415"/>
                </a:solidFill>
                <a:latin typeface="Poppins Bold"/>
                <a:ea typeface="Poppins Bold"/>
                <a:cs typeface="Poppins Bold"/>
                <a:sym typeface="Poppins Bold"/>
              </a:rPr>
              <a:t>workwithus@4garchitecture.com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14191" y="250707"/>
            <a:ext cx="1271242" cy="34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b="true" sz="1963">
                <a:solidFill>
                  <a:srgbClr val="19141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Requisitos: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34332" y="639912"/>
            <a:ext cx="5895262" cy="594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1003" indent="-185501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</a:t>
            </a:r>
            <a:r>
              <a:rPr lang="en-US" sz="1718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icenciatura en Contabilidad, Finanzas o Administración de Empresas con más de 10 años de experiencia, incluyendo al menos 5 años en roles de Controller, Director Financiero (CFO) o Auditor Senior, preferiblemente en la industria del proyecto (ej., construcción, tecnología, energía).</a:t>
            </a:r>
          </a:p>
          <a:p>
            <a:pPr algn="l" marL="371003" indent="-185501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Deseable Maestría (MBA o M.S. in Accounting).</a:t>
            </a:r>
          </a:p>
          <a:p>
            <a:pPr algn="l" marL="371003" indent="-185501" lvl="1">
              <a:lnSpc>
                <a:spcPts val="2405"/>
              </a:lnSpc>
              <a:buFont typeface="Arial"/>
              <a:buChar char="•"/>
            </a:pPr>
            <a:r>
              <a:rPr lang="en-US" sz="1718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CPA (Certified Public Accountant)/Tarjeta profesional es obligatorio.  </a:t>
            </a:r>
          </a:p>
          <a:p>
            <a:pPr algn="l" marL="349413" indent="-174707" lvl="1">
              <a:lnSpc>
                <a:spcPts val="2265"/>
              </a:lnSpc>
              <a:buFont typeface="Arial"/>
              <a:buChar char="•"/>
            </a:pPr>
            <a:r>
              <a:rPr lang="en-US" sz="1618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Dirección estratégica, gestión de riesgos, aprobación de informes financieros.</a:t>
            </a:r>
          </a:p>
          <a:p>
            <a:pPr algn="l" marL="349413" indent="-174707" lvl="1">
              <a:lnSpc>
                <a:spcPts val="2265"/>
              </a:lnSpc>
              <a:buFont typeface="Arial"/>
              <a:buChar char="•"/>
            </a:pPr>
            <a:r>
              <a:rPr lang="en-US" sz="1618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1618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umplimiento US GAAP/NIIF, planificación fiscal estratégica, análisis de costo-beneficio, dominio de ERPs avanzados  (ej., SAP, Oracle, NetSuite).</a:t>
            </a:r>
          </a:p>
          <a:p>
            <a:pPr algn="l" marL="349413" indent="-174707" lvl="1">
              <a:lnSpc>
                <a:spcPts val="2265"/>
              </a:lnSpc>
              <a:buFont typeface="Arial"/>
              <a:buChar char="•"/>
            </a:pPr>
            <a:r>
              <a:rPr lang="en-US" sz="1618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Liderazgo, pensamiento crítico, comunicación ejecutiva (presentación de resultados a inversores o dirección), negociación, y capacidad de actuar como asesor de confianza.</a:t>
            </a:r>
          </a:p>
          <a:p>
            <a:pPr algn="l" marL="349413" indent="-174707" lvl="1">
              <a:lnSpc>
                <a:spcPts val="2265"/>
              </a:lnSpc>
              <a:buFont typeface="Arial"/>
              <a:buChar char="•"/>
            </a:pPr>
            <a:r>
              <a:rPr lang="en-US" sz="1618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Inglés avanzado conversacional nivel C1</a:t>
            </a:r>
          </a:p>
          <a:p>
            <a:pPr algn="l">
              <a:lnSpc>
                <a:spcPts val="2825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588632" y="693420"/>
            <a:ext cx="1572645" cy="569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5"/>
              </a:lnSpc>
              <a:spcBef>
                <a:spcPct val="0"/>
              </a:spcBef>
            </a:pPr>
            <a:r>
              <a:rPr lang="en-US" b="true" sz="1625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Salario</a:t>
            </a:r>
          </a:p>
          <a:p>
            <a:pPr algn="ctr">
              <a:lnSpc>
                <a:spcPts val="2275"/>
              </a:lnSpc>
              <a:spcBef>
                <a:spcPct val="0"/>
              </a:spcBef>
            </a:pPr>
            <a:r>
              <a:rPr lang="en-US" b="true" sz="1625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 $15 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93771" y="1919858"/>
            <a:ext cx="1829465" cy="4399658"/>
            <a:chOff x="0" y="0"/>
            <a:chExt cx="881830" cy="21207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1830" cy="2120703"/>
            </a:xfrm>
            <a:custGeom>
              <a:avLst/>
              <a:gdLst/>
              <a:ahLst/>
              <a:cxnLst/>
              <a:rect r="r" b="b" t="t" l="l"/>
              <a:pathLst>
                <a:path h="2120703" w="881830">
                  <a:moveTo>
                    <a:pt x="181967" y="0"/>
                  </a:moveTo>
                  <a:lnTo>
                    <a:pt x="699863" y="0"/>
                  </a:lnTo>
                  <a:cubicBezTo>
                    <a:pt x="800361" y="0"/>
                    <a:pt x="881830" y="81469"/>
                    <a:pt x="881830" y="181967"/>
                  </a:cubicBezTo>
                  <a:lnTo>
                    <a:pt x="881830" y="1938735"/>
                  </a:lnTo>
                  <a:cubicBezTo>
                    <a:pt x="881830" y="2039233"/>
                    <a:pt x="800361" y="2120703"/>
                    <a:pt x="699863" y="2120703"/>
                  </a:cubicBezTo>
                  <a:lnTo>
                    <a:pt x="181967" y="2120703"/>
                  </a:lnTo>
                  <a:cubicBezTo>
                    <a:pt x="133706" y="2120703"/>
                    <a:pt x="87422" y="2101531"/>
                    <a:pt x="53297" y="2067406"/>
                  </a:cubicBezTo>
                  <a:cubicBezTo>
                    <a:pt x="19171" y="2033280"/>
                    <a:pt x="0" y="1986996"/>
                    <a:pt x="0" y="1938735"/>
                  </a:cubicBezTo>
                  <a:lnTo>
                    <a:pt x="0" y="181967"/>
                  </a:lnTo>
                  <a:cubicBezTo>
                    <a:pt x="0" y="133706"/>
                    <a:pt x="19171" y="87422"/>
                    <a:pt x="53297" y="53297"/>
                  </a:cubicBezTo>
                  <a:cubicBezTo>
                    <a:pt x="87422" y="19171"/>
                    <a:pt x="133706" y="0"/>
                    <a:pt x="1819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81830" cy="2139753"/>
            </a:xfrm>
            <a:prstGeom prst="rect">
              <a:avLst/>
            </a:prstGeom>
          </p:spPr>
          <p:txBody>
            <a:bodyPr anchor="ctr" rtlCol="false" tIns="25942" lIns="25942" bIns="25942" rIns="25942"/>
            <a:lstStyle/>
            <a:p>
              <a:pPr algn="ctr">
                <a:lnSpc>
                  <a:spcPts val="121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4851" y="2194219"/>
            <a:ext cx="1638385" cy="4212887"/>
            <a:chOff x="0" y="0"/>
            <a:chExt cx="2469505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69505" cy="6350000"/>
            </a:xfrm>
            <a:custGeom>
              <a:avLst/>
              <a:gdLst/>
              <a:ahLst/>
              <a:cxnLst/>
              <a:rect r="r" b="b" t="t" l="l"/>
              <a:pathLst>
                <a:path h="6350000" w="2469505">
                  <a:moveTo>
                    <a:pt x="2074384" y="6350000"/>
                  </a:moveTo>
                  <a:lnTo>
                    <a:pt x="395121" y="6350000"/>
                  </a:lnTo>
                  <a:cubicBezTo>
                    <a:pt x="176817" y="6350000"/>
                    <a:pt x="0" y="6122670"/>
                    <a:pt x="0" y="5842000"/>
                  </a:cubicBezTo>
                  <a:lnTo>
                    <a:pt x="0" y="508000"/>
                  </a:lnTo>
                  <a:cubicBezTo>
                    <a:pt x="0" y="227330"/>
                    <a:pt x="176817" y="0"/>
                    <a:pt x="395121" y="0"/>
                  </a:cubicBezTo>
                  <a:lnTo>
                    <a:pt x="2074384" y="0"/>
                  </a:lnTo>
                  <a:cubicBezTo>
                    <a:pt x="2292688" y="0"/>
                    <a:pt x="2469505" y="227330"/>
                    <a:pt x="2469505" y="508000"/>
                  </a:cubicBezTo>
                  <a:lnTo>
                    <a:pt x="2469505" y="5842000"/>
                  </a:lnTo>
                  <a:cubicBezTo>
                    <a:pt x="2469505" y="6122670"/>
                    <a:pt x="2292688" y="6350000"/>
                    <a:pt x="2074384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35658" t="0" r="-3565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600469" y="4902900"/>
            <a:ext cx="1593401" cy="370429"/>
            <a:chOff x="0" y="0"/>
            <a:chExt cx="1748132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48132" cy="406400"/>
            </a:xfrm>
            <a:custGeom>
              <a:avLst/>
              <a:gdLst/>
              <a:ahLst/>
              <a:cxnLst/>
              <a:rect r="r" b="b" t="t" l="l"/>
              <a:pathLst>
                <a:path h="406400" w="1748132">
                  <a:moveTo>
                    <a:pt x="1544932" y="0"/>
                  </a:moveTo>
                  <a:cubicBezTo>
                    <a:pt x="1657156" y="0"/>
                    <a:pt x="1748132" y="90976"/>
                    <a:pt x="1748132" y="203200"/>
                  </a:cubicBezTo>
                  <a:cubicBezTo>
                    <a:pt x="1748132" y="315424"/>
                    <a:pt x="1657156" y="406400"/>
                    <a:pt x="154493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748132" cy="425450"/>
            </a:xfrm>
            <a:prstGeom prst="rect">
              <a:avLst/>
            </a:prstGeom>
          </p:spPr>
          <p:txBody>
            <a:bodyPr anchor="ctr" rtlCol="false" tIns="25942" lIns="25942" bIns="25942" rIns="25942"/>
            <a:lstStyle/>
            <a:p>
              <a:pPr algn="ctr">
                <a:lnSpc>
                  <a:spcPts val="128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490496" y="6319516"/>
            <a:ext cx="452261" cy="452261"/>
          </a:xfrm>
          <a:custGeom>
            <a:avLst/>
            <a:gdLst/>
            <a:ahLst/>
            <a:cxnLst/>
            <a:rect r="r" b="b" t="t" l="l"/>
            <a:pathLst>
              <a:path h="452261" w="452261">
                <a:moveTo>
                  <a:pt x="0" y="0"/>
                </a:moveTo>
                <a:lnTo>
                  <a:pt x="452262" y="0"/>
                </a:lnTo>
                <a:lnTo>
                  <a:pt x="452262" y="452262"/>
                </a:lnTo>
                <a:lnTo>
                  <a:pt x="0" y="452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95742" y="1199213"/>
            <a:ext cx="1839905" cy="611388"/>
          </a:xfrm>
          <a:custGeom>
            <a:avLst/>
            <a:gdLst/>
            <a:ahLst/>
            <a:cxnLst/>
            <a:rect r="r" b="b" t="t" l="l"/>
            <a:pathLst>
              <a:path h="611388" w="1839905">
                <a:moveTo>
                  <a:pt x="0" y="0"/>
                </a:moveTo>
                <a:lnTo>
                  <a:pt x="1839906" y="0"/>
                </a:lnTo>
                <a:lnTo>
                  <a:pt x="1839906" y="611388"/>
                </a:lnTo>
                <a:lnTo>
                  <a:pt x="0" y="6113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120968" y="1319939"/>
            <a:ext cx="2298658" cy="693305"/>
            <a:chOff x="0" y="0"/>
            <a:chExt cx="924578" cy="278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4578" cy="278865"/>
            </a:xfrm>
            <a:custGeom>
              <a:avLst/>
              <a:gdLst/>
              <a:ahLst/>
              <a:cxnLst/>
              <a:rect r="r" b="b" t="t" l="l"/>
              <a:pathLst>
                <a:path h="278865" w="924578">
                  <a:moveTo>
                    <a:pt x="0" y="0"/>
                  </a:moveTo>
                  <a:lnTo>
                    <a:pt x="924578" y="0"/>
                  </a:lnTo>
                  <a:lnTo>
                    <a:pt x="924578" y="278865"/>
                  </a:lnTo>
                  <a:lnTo>
                    <a:pt x="0" y="278865"/>
                  </a:lnTo>
                  <a:close/>
                </a:path>
              </a:pathLst>
            </a:custGeom>
            <a:solidFill>
              <a:srgbClr val="8A8A8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24578" cy="307440"/>
            </a:xfrm>
            <a:prstGeom prst="rect">
              <a:avLst/>
            </a:prstGeom>
          </p:spPr>
          <p:txBody>
            <a:bodyPr anchor="ctr" rtlCol="false" tIns="25942" lIns="25942" bIns="25942" rIns="25942"/>
            <a:lstStyle/>
            <a:p>
              <a:pPr algn="ctr">
                <a:lnSpc>
                  <a:spcPts val="173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26645" y="1856362"/>
            <a:ext cx="2778100" cy="170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8"/>
              </a:lnSpc>
            </a:pPr>
            <a:r>
              <a:rPr lang="en-US" sz="2441" b="true">
                <a:solidFill>
                  <a:srgbClr val="7B090D"/>
                </a:solidFill>
                <a:latin typeface="Manrope Bold"/>
                <a:ea typeface="Manrope Bold"/>
                <a:cs typeface="Manrope Bold"/>
                <a:sym typeface="Manrope Bold"/>
              </a:rPr>
              <a:t>Contador de proyectos/Líder Operativo </a:t>
            </a:r>
          </a:p>
          <a:p>
            <a:pPr algn="ctr">
              <a:lnSpc>
                <a:spcPts val="341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632454" y="6415446"/>
            <a:ext cx="3906314" cy="2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</a:pPr>
            <a:r>
              <a:rPr lang="en-US" b="true" sz="1479" spc="-14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workwithus@4garchitecture.com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32151" y="1300824"/>
            <a:ext cx="3076293" cy="68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Salario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 $6.5 MM COP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04745" y="1376002"/>
            <a:ext cx="6376489" cy="50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1161" indent="-200581" lvl="1">
              <a:lnSpc>
                <a:spcPts val="2601"/>
              </a:lnSpc>
              <a:buFont typeface="Arial"/>
              <a:buChar char="•"/>
            </a:pPr>
            <a:r>
              <a:rPr lang="en-US" sz="1858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Profes</a:t>
            </a:r>
            <a:r>
              <a:rPr lang="en-US" sz="1858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ional con experiencia en contabilidad de costos (5–10 años).</a:t>
            </a:r>
          </a:p>
          <a:p>
            <a:pPr algn="l" marL="401161" indent="-200581" lvl="1">
              <a:lnSpc>
                <a:spcPts val="2601"/>
              </a:lnSpc>
              <a:buFont typeface="Arial"/>
              <a:buChar char="•"/>
            </a:pPr>
            <a:r>
              <a:rPr lang="en-US" sz="1858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CPA (Certified Public Accountant)/Tarjeta profesional es obligatorio.  </a:t>
            </a:r>
          </a:p>
          <a:p>
            <a:pPr algn="l" marL="376110" indent="-188055" lvl="1">
              <a:lnSpc>
                <a:spcPts val="2438"/>
              </a:lnSpc>
              <a:buFont typeface="Arial"/>
              <a:buChar char="•"/>
            </a:pPr>
            <a:r>
              <a:rPr lang="en-US" sz="1742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Aplicación de EVM (Earned Value Management), control presupuestal </a:t>
            </a:r>
          </a:p>
          <a:p>
            <a:pPr algn="l" marL="376110" indent="-188055" lvl="1">
              <a:lnSpc>
                <a:spcPts val="2438"/>
              </a:lnSpc>
              <a:buFont typeface="Arial"/>
              <a:buChar char="•"/>
            </a:pPr>
            <a:r>
              <a:rPr lang="en-US" sz="1742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</a:t>
            </a:r>
            <a:r>
              <a:rPr lang="en-US" sz="1742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minio normativo en US GAAP, IFRS. </a:t>
            </a:r>
          </a:p>
          <a:p>
            <a:pPr algn="l" marL="376110" indent="-188055" lvl="1">
              <a:lnSpc>
                <a:spcPts val="2438"/>
              </a:lnSpc>
              <a:buFont typeface="Arial"/>
              <a:buChar char="•"/>
            </a:pPr>
            <a:r>
              <a:rPr lang="en-US" sz="1742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Experiencia comprobada liderando presupuestos de proyectos</a:t>
            </a:r>
          </a:p>
          <a:p>
            <a:pPr algn="l" marL="376110" indent="-188055" lvl="1">
              <a:lnSpc>
                <a:spcPts val="2438"/>
              </a:lnSpc>
              <a:buFont typeface="Arial"/>
              <a:buChar char="•"/>
            </a:pPr>
            <a:r>
              <a:rPr lang="en-US" sz="1742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Dominio de ERPs avanzados (ej., SAP, Oracle, NetSuite).</a:t>
            </a:r>
          </a:p>
          <a:p>
            <a:pPr algn="l" marL="376110" indent="-188055" lvl="1">
              <a:lnSpc>
                <a:spcPts val="2438"/>
              </a:lnSpc>
              <a:buFont typeface="Arial"/>
              <a:buChar char="•"/>
            </a:pPr>
            <a:r>
              <a:rPr lang="en-US" sz="1742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Gestión de cambios (scope, costo y tiempo) y análisis de impacto.</a:t>
            </a:r>
          </a:p>
          <a:p>
            <a:pPr algn="l" marL="397699" indent="-198850" lvl="1">
              <a:lnSpc>
                <a:spcPts val="2578"/>
              </a:lnSpc>
              <a:buFont typeface="Arial"/>
              <a:buChar char="•"/>
            </a:pPr>
            <a:r>
              <a:rPr lang="en-US" sz="1842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Elaboración y seguimiento de forecast financiero del proyecto, Análisis de variaciones (CV, SV, CPI, SPI) y planes de acción.</a:t>
            </a:r>
          </a:p>
          <a:p>
            <a:pPr algn="l" marL="397699" indent="-198850" lvl="1">
              <a:lnSpc>
                <a:spcPts val="2578"/>
              </a:lnSpc>
              <a:buFont typeface="Arial"/>
              <a:buChar char="•"/>
            </a:pPr>
            <a:r>
              <a:rPr lang="en-US" sz="1842">
                <a:solidFill>
                  <a:srgbClr val="1D19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Inglés avanzado conversacional nivel C1</a:t>
            </a:r>
          </a:p>
          <a:p>
            <a:pPr algn="l">
              <a:lnSpc>
                <a:spcPts val="2438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595214" y="974793"/>
            <a:ext cx="1271242" cy="34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b="true" sz="1963">
                <a:solidFill>
                  <a:srgbClr val="19141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Requisitos: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34259" y="2096271"/>
            <a:ext cx="4018949" cy="4350689"/>
          </a:xfrm>
          <a:custGeom>
            <a:avLst/>
            <a:gdLst/>
            <a:ahLst/>
            <a:cxnLst/>
            <a:rect r="r" b="b" t="t" l="l"/>
            <a:pathLst>
              <a:path h="4350689" w="4018949">
                <a:moveTo>
                  <a:pt x="0" y="0"/>
                </a:moveTo>
                <a:lnTo>
                  <a:pt x="4018949" y="0"/>
                </a:lnTo>
                <a:lnTo>
                  <a:pt x="4018949" y="4350689"/>
                </a:lnTo>
                <a:lnTo>
                  <a:pt x="0" y="4350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68659" y="2936480"/>
            <a:ext cx="2950149" cy="2670272"/>
            <a:chOff x="0" y="0"/>
            <a:chExt cx="3933531" cy="3560362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19345" r="41522" b="0"/>
            <a:stretch>
              <a:fillRect/>
            </a:stretch>
          </p:blipFill>
          <p:spPr>
            <a:xfrm flipH="false" flipV="false">
              <a:off x="0" y="0"/>
              <a:ext cx="3933531" cy="3560362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8921113" y="933561"/>
            <a:ext cx="267966" cy="390479"/>
          </a:xfrm>
          <a:custGeom>
            <a:avLst/>
            <a:gdLst/>
            <a:ahLst/>
            <a:cxnLst/>
            <a:rect r="r" b="b" t="t" l="l"/>
            <a:pathLst>
              <a:path h="390479" w="267966">
                <a:moveTo>
                  <a:pt x="0" y="0"/>
                </a:moveTo>
                <a:lnTo>
                  <a:pt x="267966" y="0"/>
                </a:lnTo>
                <a:lnTo>
                  <a:pt x="267966" y="390479"/>
                </a:lnTo>
                <a:lnTo>
                  <a:pt x="0" y="390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61627" y="909892"/>
            <a:ext cx="4866419" cy="41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427" i="true" spc="121">
                <a:solidFill>
                  <a:srgbClr val="94191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BARRANQUILLA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38372" y="748327"/>
            <a:ext cx="2554744" cy="848924"/>
          </a:xfrm>
          <a:custGeom>
            <a:avLst/>
            <a:gdLst/>
            <a:ahLst/>
            <a:cxnLst/>
            <a:rect r="r" b="b" t="t" l="l"/>
            <a:pathLst>
              <a:path h="848924" w="2554744">
                <a:moveTo>
                  <a:pt x="0" y="0"/>
                </a:moveTo>
                <a:lnTo>
                  <a:pt x="2554744" y="0"/>
                </a:lnTo>
                <a:lnTo>
                  <a:pt x="2554744" y="848924"/>
                </a:lnTo>
                <a:lnTo>
                  <a:pt x="0" y="8489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35319" y="3084818"/>
            <a:ext cx="6508094" cy="3168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9991" indent="-274996" lvl="1">
              <a:lnSpc>
                <a:spcPts val="3566"/>
              </a:lnSpc>
              <a:buFont typeface="Arial"/>
              <a:buChar char="•"/>
            </a:pPr>
            <a:r>
              <a:rPr lang="en-US" sz="2547">
                <a:solidFill>
                  <a:srgbClr val="191415"/>
                </a:solidFill>
                <a:latin typeface="Agrandir"/>
                <a:ea typeface="Agrandir"/>
                <a:cs typeface="Agrandir"/>
                <a:sym typeface="Agrandir"/>
              </a:rPr>
              <a:t>Profesional en Arquitectura.</a:t>
            </a:r>
          </a:p>
          <a:p>
            <a:pPr algn="just" marL="549991" indent="-274996" lvl="1">
              <a:lnSpc>
                <a:spcPts val="3566"/>
              </a:lnSpc>
              <a:buFont typeface="Arial"/>
              <a:buChar char="•"/>
            </a:pPr>
            <a:r>
              <a:rPr lang="en-US" sz="2547">
                <a:solidFill>
                  <a:srgbClr val="191415"/>
                </a:solidFill>
                <a:latin typeface="Agrandir"/>
                <a:ea typeface="Agrandir"/>
                <a:cs typeface="Agrandir"/>
                <a:sym typeface="Agrandir"/>
              </a:rPr>
              <a:t>Experiencia en obra</a:t>
            </a:r>
          </a:p>
          <a:p>
            <a:pPr algn="just" marL="549991" indent="-274996" lvl="1">
              <a:lnSpc>
                <a:spcPts val="3566"/>
              </a:lnSpc>
              <a:buFont typeface="Arial"/>
              <a:buChar char="•"/>
            </a:pPr>
            <a:r>
              <a:rPr lang="en-US" sz="2547">
                <a:solidFill>
                  <a:srgbClr val="191415"/>
                </a:solidFill>
                <a:latin typeface="Agrandir"/>
                <a:ea typeface="Agrandir"/>
                <a:cs typeface="Agrandir"/>
                <a:sym typeface="Agrandir"/>
              </a:rPr>
              <a:t>Manejo avanzado de CAD Y REVIT.</a:t>
            </a:r>
          </a:p>
          <a:p>
            <a:pPr algn="just" marL="549991" indent="-274996" lvl="1">
              <a:lnSpc>
                <a:spcPts val="3566"/>
              </a:lnSpc>
              <a:buFont typeface="Arial"/>
              <a:buChar char="•"/>
            </a:pPr>
            <a:r>
              <a:rPr lang="en-US" sz="2547">
                <a:solidFill>
                  <a:srgbClr val="191415"/>
                </a:solidFill>
                <a:latin typeface="Agrandir"/>
                <a:ea typeface="Agrandir"/>
                <a:cs typeface="Agrandir"/>
                <a:sym typeface="Agrandir"/>
              </a:rPr>
              <a:t>Inglés nivel B2. </a:t>
            </a:r>
          </a:p>
          <a:p>
            <a:pPr algn="l" marL="549991" indent="-274996" lvl="1">
              <a:lnSpc>
                <a:spcPts val="3566"/>
              </a:lnSpc>
              <a:buFont typeface="Arial"/>
              <a:buChar char="•"/>
            </a:pPr>
            <a:r>
              <a:rPr lang="en-US" sz="2547">
                <a:solidFill>
                  <a:srgbClr val="191415"/>
                </a:solidFill>
                <a:latin typeface="Agrandir"/>
                <a:ea typeface="Agrandir"/>
                <a:cs typeface="Agrandir"/>
                <a:sym typeface="Agrandir"/>
              </a:rPr>
              <a:t>Experiencia en proyectos de arquitectura por más de 2 años.</a:t>
            </a:r>
          </a:p>
          <a:p>
            <a:pPr algn="just">
              <a:lnSpc>
                <a:spcPts val="356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190826" y="2568459"/>
            <a:ext cx="1781721" cy="436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b="true" sz="2568">
                <a:solidFill>
                  <a:srgbClr val="19141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Requisitos: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9961" y="1767653"/>
            <a:ext cx="4872144" cy="591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1"/>
              </a:lnSpc>
            </a:pPr>
            <a:r>
              <a:rPr lang="en-US" b="true" sz="3394">
                <a:solidFill>
                  <a:srgbClr val="94191C"/>
                </a:solidFill>
                <a:latin typeface="Agrandir Bold"/>
                <a:ea typeface="Agrandir Bold"/>
                <a:cs typeface="Agrandir Bold"/>
                <a:sym typeface="Agrandir Bold"/>
              </a:rPr>
              <a:t>ARQUITECTO SENIOR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84847" y="1512287"/>
            <a:ext cx="2717774" cy="841159"/>
            <a:chOff x="0" y="0"/>
            <a:chExt cx="715792" cy="2215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5792" cy="221540"/>
            </a:xfrm>
            <a:custGeom>
              <a:avLst/>
              <a:gdLst/>
              <a:ahLst/>
              <a:cxnLst/>
              <a:rect r="r" b="b" t="t" l="l"/>
              <a:pathLst>
                <a:path h="221540" w="715792">
                  <a:moveTo>
                    <a:pt x="0" y="0"/>
                  </a:moveTo>
                  <a:lnTo>
                    <a:pt x="715792" y="0"/>
                  </a:lnTo>
                  <a:lnTo>
                    <a:pt x="715792" y="221540"/>
                  </a:lnTo>
                  <a:lnTo>
                    <a:pt x="0" y="221540"/>
                  </a:lnTo>
                  <a:close/>
                </a:path>
              </a:pathLst>
            </a:custGeom>
            <a:solidFill>
              <a:srgbClr val="8A8A8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15792" cy="278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8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921113" y="1559151"/>
            <a:ext cx="3245242" cy="709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53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Salario</a:t>
            </a:r>
          </a:p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53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 $4.2 MM COP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333833" y="6131419"/>
            <a:ext cx="452261" cy="452261"/>
          </a:xfrm>
          <a:custGeom>
            <a:avLst/>
            <a:gdLst/>
            <a:ahLst/>
            <a:cxnLst/>
            <a:rect r="r" b="b" t="t" l="l"/>
            <a:pathLst>
              <a:path h="452261" w="452261">
                <a:moveTo>
                  <a:pt x="0" y="0"/>
                </a:moveTo>
                <a:lnTo>
                  <a:pt x="452262" y="0"/>
                </a:lnTo>
                <a:lnTo>
                  <a:pt x="452262" y="452261"/>
                </a:lnTo>
                <a:lnTo>
                  <a:pt x="0" y="452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475791" y="6227348"/>
            <a:ext cx="3906314" cy="2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</a:pPr>
            <a:r>
              <a:rPr lang="en-US" b="true" sz="1479" spc="-14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workwithus@4garchitecture.com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34259" y="2096271"/>
            <a:ext cx="4018949" cy="4350689"/>
          </a:xfrm>
          <a:custGeom>
            <a:avLst/>
            <a:gdLst/>
            <a:ahLst/>
            <a:cxnLst/>
            <a:rect r="r" b="b" t="t" l="l"/>
            <a:pathLst>
              <a:path h="4350689" w="4018949">
                <a:moveTo>
                  <a:pt x="0" y="0"/>
                </a:moveTo>
                <a:lnTo>
                  <a:pt x="4018949" y="0"/>
                </a:lnTo>
                <a:lnTo>
                  <a:pt x="4018949" y="4350689"/>
                </a:lnTo>
                <a:lnTo>
                  <a:pt x="0" y="4350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68659" y="2936480"/>
            <a:ext cx="2950149" cy="2670272"/>
            <a:chOff x="0" y="0"/>
            <a:chExt cx="3933531" cy="3560362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3195" t="0" r="13195" b="0"/>
            <a:stretch>
              <a:fillRect/>
            </a:stretch>
          </p:blipFill>
          <p:spPr>
            <a:xfrm flipH="false" flipV="false">
              <a:off x="0" y="0"/>
              <a:ext cx="3933531" cy="3560362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8921113" y="933561"/>
            <a:ext cx="267966" cy="390479"/>
          </a:xfrm>
          <a:custGeom>
            <a:avLst/>
            <a:gdLst/>
            <a:ahLst/>
            <a:cxnLst/>
            <a:rect r="r" b="b" t="t" l="l"/>
            <a:pathLst>
              <a:path h="390479" w="267966">
                <a:moveTo>
                  <a:pt x="0" y="0"/>
                </a:moveTo>
                <a:lnTo>
                  <a:pt x="267966" y="0"/>
                </a:lnTo>
                <a:lnTo>
                  <a:pt x="267966" y="390479"/>
                </a:lnTo>
                <a:lnTo>
                  <a:pt x="0" y="390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61627" y="909892"/>
            <a:ext cx="4866419" cy="41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427" i="true" spc="121">
                <a:solidFill>
                  <a:srgbClr val="94191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BARRANQUILLA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38372" y="748327"/>
            <a:ext cx="2554744" cy="848924"/>
          </a:xfrm>
          <a:custGeom>
            <a:avLst/>
            <a:gdLst/>
            <a:ahLst/>
            <a:cxnLst/>
            <a:rect r="r" b="b" t="t" l="l"/>
            <a:pathLst>
              <a:path h="848924" w="2554744">
                <a:moveTo>
                  <a:pt x="0" y="0"/>
                </a:moveTo>
                <a:lnTo>
                  <a:pt x="2554744" y="0"/>
                </a:lnTo>
                <a:lnTo>
                  <a:pt x="2554744" y="848924"/>
                </a:lnTo>
                <a:lnTo>
                  <a:pt x="0" y="8489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90826" y="2568459"/>
            <a:ext cx="1781721" cy="436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b="true" sz="2568">
                <a:solidFill>
                  <a:srgbClr val="19141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Requisitos: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9961" y="1767653"/>
            <a:ext cx="4872144" cy="591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1"/>
              </a:lnSpc>
            </a:pPr>
            <a:r>
              <a:rPr lang="en-US" b="true" sz="3394">
                <a:solidFill>
                  <a:srgbClr val="94191C"/>
                </a:solidFill>
                <a:latin typeface="Agrandir Bold"/>
                <a:ea typeface="Agrandir Bold"/>
                <a:cs typeface="Agrandir Bold"/>
                <a:sym typeface="Agrandir Bold"/>
              </a:rPr>
              <a:t>ARQUITECTO JUNIOR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84847" y="1512287"/>
            <a:ext cx="2717774" cy="841159"/>
            <a:chOff x="0" y="0"/>
            <a:chExt cx="715792" cy="2215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5792" cy="221540"/>
            </a:xfrm>
            <a:custGeom>
              <a:avLst/>
              <a:gdLst/>
              <a:ahLst/>
              <a:cxnLst/>
              <a:rect r="r" b="b" t="t" l="l"/>
              <a:pathLst>
                <a:path h="221540" w="715792">
                  <a:moveTo>
                    <a:pt x="0" y="0"/>
                  </a:moveTo>
                  <a:lnTo>
                    <a:pt x="715792" y="0"/>
                  </a:lnTo>
                  <a:lnTo>
                    <a:pt x="715792" y="221540"/>
                  </a:lnTo>
                  <a:lnTo>
                    <a:pt x="0" y="221540"/>
                  </a:lnTo>
                  <a:close/>
                </a:path>
              </a:pathLst>
            </a:custGeom>
            <a:solidFill>
              <a:srgbClr val="8A8A8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715792" cy="278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8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921113" y="1559151"/>
            <a:ext cx="3245242" cy="709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53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Salario</a:t>
            </a:r>
          </a:p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53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 $2.5 MM COP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333833" y="6131419"/>
            <a:ext cx="452261" cy="452261"/>
          </a:xfrm>
          <a:custGeom>
            <a:avLst/>
            <a:gdLst/>
            <a:ahLst/>
            <a:cxnLst/>
            <a:rect r="r" b="b" t="t" l="l"/>
            <a:pathLst>
              <a:path h="452261" w="452261">
                <a:moveTo>
                  <a:pt x="0" y="0"/>
                </a:moveTo>
                <a:lnTo>
                  <a:pt x="452262" y="0"/>
                </a:lnTo>
                <a:lnTo>
                  <a:pt x="452262" y="452261"/>
                </a:lnTo>
                <a:lnTo>
                  <a:pt x="0" y="452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75791" y="6227348"/>
            <a:ext cx="3906314" cy="2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</a:pPr>
            <a:r>
              <a:rPr lang="en-US" b="true" sz="1479" spc="-14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workwithus@4garchitecture.com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25077" y="3040372"/>
            <a:ext cx="6842810" cy="320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425" indent="-325712" lvl="1">
              <a:lnSpc>
                <a:spcPts val="4224"/>
              </a:lnSpc>
              <a:buFont typeface="Arial"/>
              <a:buChar char="•"/>
            </a:pPr>
            <a:r>
              <a:rPr lang="en-US" sz="3017">
                <a:solidFill>
                  <a:srgbClr val="191415"/>
                </a:solidFill>
                <a:latin typeface="Roboto"/>
                <a:ea typeface="Roboto"/>
                <a:cs typeface="Roboto"/>
                <a:sym typeface="Roboto"/>
              </a:rPr>
              <a:t>Profesional en Arquitectura.</a:t>
            </a:r>
          </a:p>
          <a:p>
            <a:pPr algn="l" marL="651425" indent="-325712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017">
                <a:solidFill>
                  <a:srgbClr val="191415"/>
                </a:solidFill>
                <a:latin typeface="Roboto"/>
                <a:ea typeface="Roboto"/>
                <a:cs typeface="Roboto"/>
                <a:sym typeface="Roboto"/>
              </a:rPr>
              <a:t>Inglés nivel B2. </a:t>
            </a:r>
          </a:p>
          <a:p>
            <a:pPr algn="l" marL="651425" indent="-325712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017">
                <a:solidFill>
                  <a:srgbClr val="191415"/>
                </a:solidFill>
                <a:latin typeface="Roboto"/>
                <a:ea typeface="Roboto"/>
                <a:cs typeface="Roboto"/>
                <a:sym typeface="Roboto"/>
              </a:rPr>
              <a:t>Manejo avanzado de CAD Y REVIT.</a:t>
            </a:r>
          </a:p>
          <a:p>
            <a:pPr algn="l" marL="651425" indent="-325712" lvl="1">
              <a:lnSpc>
                <a:spcPts val="4224"/>
              </a:lnSpc>
              <a:spcBef>
                <a:spcPct val="0"/>
              </a:spcBef>
              <a:buFont typeface="Arial"/>
              <a:buChar char="•"/>
            </a:pPr>
            <a:r>
              <a:rPr lang="en-US" sz="3017">
                <a:solidFill>
                  <a:srgbClr val="191415"/>
                </a:solidFill>
                <a:latin typeface="Roboto"/>
                <a:ea typeface="Roboto"/>
                <a:cs typeface="Roboto"/>
                <a:sym typeface="Roboto"/>
              </a:rPr>
              <a:t>Experiencia en proyectos de arquitectura por más de 1 año.</a:t>
            </a:r>
          </a:p>
          <a:p>
            <a:pPr algn="l">
              <a:lnSpc>
                <a:spcPts val="42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34259" y="2096271"/>
            <a:ext cx="4018949" cy="4350689"/>
          </a:xfrm>
          <a:custGeom>
            <a:avLst/>
            <a:gdLst/>
            <a:ahLst/>
            <a:cxnLst/>
            <a:rect r="r" b="b" t="t" l="l"/>
            <a:pathLst>
              <a:path h="4350689" w="4018949">
                <a:moveTo>
                  <a:pt x="0" y="0"/>
                </a:moveTo>
                <a:lnTo>
                  <a:pt x="4018949" y="0"/>
                </a:lnTo>
                <a:lnTo>
                  <a:pt x="4018949" y="4350689"/>
                </a:lnTo>
                <a:lnTo>
                  <a:pt x="0" y="4350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68659" y="2936480"/>
            <a:ext cx="2950149" cy="2670272"/>
            <a:chOff x="0" y="0"/>
            <a:chExt cx="3933531" cy="3560362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8362" t="0" r="8362" b="0"/>
            <a:stretch>
              <a:fillRect/>
            </a:stretch>
          </p:blipFill>
          <p:spPr>
            <a:xfrm flipH="false" flipV="false">
              <a:off x="0" y="0"/>
              <a:ext cx="3933531" cy="3560362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8921113" y="933561"/>
            <a:ext cx="267966" cy="390479"/>
          </a:xfrm>
          <a:custGeom>
            <a:avLst/>
            <a:gdLst/>
            <a:ahLst/>
            <a:cxnLst/>
            <a:rect r="r" b="b" t="t" l="l"/>
            <a:pathLst>
              <a:path h="390479" w="267966">
                <a:moveTo>
                  <a:pt x="0" y="0"/>
                </a:moveTo>
                <a:lnTo>
                  <a:pt x="267966" y="0"/>
                </a:lnTo>
                <a:lnTo>
                  <a:pt x="267966" y="390479"/>
                </a:lnTo>
                <a:lnTo>
                  <a:pt x="0" y="390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61627" y="909892"/>
            <a:ext cx="4866419" cy="41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427" i="true" spc="121">
                <a:solidFill>
                  <a:srgbClr val="94191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BARRANQUILLA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10222" y="704352"/>
            <a:ext cx="2554744" cy="848924"/>
          </a:xfrm>
          <a:custGeom>
            <a:avLst/>
            <a:gdLst/>
            <a:ahLst/>
            <a:cxnLst/>
            <a:rect r="r" b="b" t="t" l="l"/>
            <a:pathLst>
              <a:path h="848924" w="2554744">
                <a:moveTo>
                  <a:pt x="0" y="0"/>
                </a:moveTo>
                <a:lnTo>
                  <a:pt x="2554744" y="0"/>
                </a:lnTo>
                <a:lnTo>
                  <a:pt x="2554744" y="848925"/>
                </a:lnTo>
                <a:lnTo>
                  <a:pt x="0" y="848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64727" y="1728965"/>
            <a:ext cx="4872144" cy="591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1"/>
              </a:lnSpc>
            </a:pPr>
            <a:r>
              <a:rPr lang="en-US" b="true" sz="3394">
                <a:solidFill>
                  <a:srgbClr val="94191C"/>
                </a:solidFill>
                <a:latin typeface="Agrandir Bold"/>
                <a:ea typeface="Agrandir Bold"/>
                <a:cs typeface="Agrandir Bold"/>
                <a:sym typeface="Agrandir Bold"/>
              </a:rPr>
              <a:t>ENGINEER JUNIOR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84847" y="1512287"/>
            <a:ext cx="2717774" cy="841159"/>
            <a:chOff x="0" y="0"/>
            <a:chExt cx="715792" cy="2215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5792" cy="221540"/>
            </a:xfrm>
            <a:custGeom>
              <a:avLst/>
              <a:gdLst/>
              <a:ahLst/>
              <a:cxnLst/>
              <a:rect r="r" b="b" t="t" l="l"/>
              <a:pathLst>
                <a:path h="221540" w="715792">
                  <a:moveTo>
                    <a:pt x="0" y="0"/>
                  </a:moveTo>
                  <a:lnTo>
                    <a:pt x="715792" y="0"/>
                  </a:lnTo>
                  <a:lnTo>
                    <a:pt x="715792" y="221540"/>
                  </a:lnTo>
                  <a:lnTo>
                    <a:pt x="0" y="221540"/>
                  </a:lnTo>
                  <a:close/>
                </a:path>
              </a:pathLst>
            </a:custGeom>
            <a:solidFill>
              <a:srgbClr val="8A8A8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15792" cy="278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921113" y="1559151"/>
            <a:ext cx="3245242" cy="709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53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Salario</a:t>
            </a:r>
          </a:p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53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 $2.6 MM COP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333833" y="6131419"/>
            <a:ext cx="452261" cy="452261"/>
          </a:xfrm>
          <a:custGeom>
            <a:avLst/>
            <a:gdLst/>
            <a:ahLst/>
            <a:cxnLst/>
            <a:rect r="r" b="b" t="t" l="l"/>
            <a:pathLst>
              <a:path h="452261" w="452261">
                <a:moveTo>
                  <a:pt x="0" y="0"/>
                </a:moveTo>
                <a:lnTo>
                  <a:pt x="452262" y="0"/>
                </a:lnTo>
                <a:lnTo>
                  <a:pt x="452262" y="452261"/>
                </a:lnTo>
                <a:lnTo>
                  <a:pt x="0" y="452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75791" y="6227348"/>
            <a:ext cx="3906314" cy="2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</a:pPr>
            <a:r>
              <a:rPr lang="en-US" b="true" sz="1479" spc="-14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workwithus@4garchitecture.com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1520" y="2554696"/>
            <a:ext cx="8567608" cy="3275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Ingeniero Eléctrico, Ingeniero Electrónico o afines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Experiencia en dibujo y modelado de proyectos de ingeniería MEP.</a:t>
            </a:r>
          </a:p>
          <a:p>
            <a:pPr algn="l">
              <a:lnSpc>
                <a:spcPts val="2387"/>
              </a:lnSpc>
            </a:pPr>
          </a:p>
          <a:p>
            <a:pPr algn="l">
              <a:lnSpc>
                <a:spcPts val="2387"/>
              </a:lnSpc>
            </a:pPr>
            <a:r>
              <a:rPr lang="en-US" sz="2170">
                <a:solidFill>
                  <a:srgbClr val="7C2023"/>
                </a:solidFill>
                <a:latin typeface="Poppins"/>
                <a:ea typeface="Poppins"/>
                <a:cs typeface="Poppins"/>
                <a:sym typeface="Poppins"/>
              </a:rPr>
              <a:t>Requerimientos: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Inglés B2 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 año de experiencia laboral en manejo de proyectos.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Software: Revit, NavisWorks, DiaLux (preferiblemente), Autocad.</a:t>
            </a:r>
          </a:p>
          <a:p>
            <a:pPr algn="l">
              <a:lnSpc>
                <a:spcPts val="2387"/>
              </a:lnSpc>
            </a:pPr>
          </a:p>
          <a:p>
            <a:pPr algn="l">
              <a:lnSpc>
                <a:spcPts val="2387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34259" y="2096271"/>
            <a:ext cx="4018949" cy="4350689"/>
          </a:xfrm>
          <a:custGeom>
            <a:avLst/>
            <a:gdLst/>
            <a:ahLst/>
            <a:cxnLst/>
            <a:rect r="r" b="b" t="t" l="l"/>
            <a:pathLst>
              <a:path h="4350689" w="4018949">
                <a:moveTo>
                  <a:pt x="0" y="0"/>
                </a:moveTo>
                <a:lnTo>
                  <a:pt x="4018949" y="0"/>
                </a:lnTo>
                <a:lnTo>
                  <a:pt x="4018949" y="4350689"/>
                </a:lnTo>
                <a:lnTo>
                  <a:pt x="0" y="4350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68659" y="2936480"/>
            <a:ext cx="2950149" cy="2670272"/>
            <a:chOff x="0" y="0"/>
            <a:chExt cx="3933531" cy="3560362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3195" t="0" r="13195" b="0"/>
            <a:stretch>
              <a:fillRect/>
            </a:stretch>
          </p:blipFill>
          <p:spPr>
            <a:xfrm flipH="false" flipV="false">
              <a:off x="0" y="0"/>
              <a:ext cx="3933531" cy="3560362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8921113" y="933561"/>
            <a:ext cx="267966" cy="390479"/>
          </a:xfrm>
          <a:custGeom>
            <a:avLst/>
            <a:gdLst/>
            <a:ahLst/>
            <a:cxnLst/>
            <a:rect r="r" b="b" t="t" l="l"/>
            <a:pathLst>
              <a:path h="390479" w="267966">
                <a:moveTo>
                  <a:pt x="0" y="0"/>
                </a:moveTo>
                <a:lnTo>
                  <a:pt x="267966" y="0"/>
                </a:lnTo>
                <a:lnTo>
                  <a:pt x="267966" y="390479"/>
                </a:lnTo>
                <a:lnTo>
                  <a:pt x="0" y="390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61627" y="909892"/>
            <a:ext cx="4866419" cy="41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427" i="true" spc="121">
                <a:solidFill>
                  <a:srgbClr val="94191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BARRANQUILLA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10222" y="704352"/>
            <a:ext cx="2554744" cy="848924"/>
          </a:xfrm>
          <a:custGeom>
            <a:avLst/>
            <a:gdLst/>
            <a:ahLst/>
            <a:cxnLst/>
            <a:rect r="r" b="b" t="t" l="l"/>
            <a:pathLst>
              <a:path h="848924" w="2554744">
                <a:moveTo>
                  <a:pt x="0" y="0"/>
                </a:moveTo>
                <a:lnTo>
                  <a:pt x="2554744" y="0"/>
                </a:lnTo>
                <a:lnTo>
                  <a:pt x="2554744" y="848925"/>
                </a:lnTo>
                <a:lnTo>
                  <a:pt x="0" y="848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64727" y="1728965"/>
            <a:ext cx="4872144" cy="591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1"/>
              </a:lnSpc>
            </a:pPr>
            <a:r>
              <a:rPr lang="en-US" b="true" sz="3394">
                <a:solidFill>
                  <a:srgbClr val="94191C"/>
                </a:solidFill>
                <a:latin typeface="Agrandir Bold"/>
                <a:ea typeface="Agrandir Bold"/>
                <a:cs typeface="Agrandir Bold"/>
                <a:sym typeface="Agrandir Bold"/>
              </a:rPr>
              <a:t>ENGINEER SENIOR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84847" y="1512287"/>
            <a:ext cx="2717774" cy="841159"/>
            <a:chOff x="0" y="0"/>
            <a:chExt cx="715792" cy="2215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5792" cy="221540"/>
            </a:xfrm>
            <a:custGeom>
              <a:avLst/>
              <a:gdLst/>
              <a:ahLst/>
              <a:cxnLst/>
              <a:rect r="r" b="b" t="t" l="l"/>
              <a:pathLst>
                <a:path h="221540" w="715792">
                  <a:moveTo>
                    <a:pt x="0" y="0"/>
                  </a:moveTo>
                  <a:lnTo>
                    <a:pt x="715792" y="0"/>
                  </a:lnTo>
                  <a:lnTo>
                    <a:pt x="715792" y="221540"/>
                  </a:lnTo>
                  <a:lnTo>
                    <a:pt x="0" y="221540"/>
                  </a:lnTo>
                  <a:close/>
                </a:path>
              </a:pathLst>
            </a:custGeom>
            <a:solidFill>
              <a:srgbClr val="8A8A8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15792" cy="278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921113" y="1559151"/>
            <a:ext cx="3245242" cy="709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53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Salario</a:t>
            </a:r>
          </a:p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53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 $4.2 MM COP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333833" y="6131419"/>
            <a:ext cx="452261" cy="452261"/>
          </a:xfrm>
          <a:custGeom>
            <a:avLst/>
            <a:gdLst/>
            <a:ahLst/>
            <a:cxnLst/>
            <a:rect r="r" b="b" t="t" l="l"/>
            <a:pathLst>
              <a:path h="452261" w="452261">
                <a:moveTo>
                  <a:pt x="0" y="0"/>
                </a:moveTo>
                <a:lnTo>
                  <a:pt x="452262" y="0"/>
                </a:lnTo>
                <a:lnTo>
                  <a:pt x="452262" y="452261"/>
                </a:lnTo>
                <a:lnTo>
                  <a:pt x="0" y="452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75791" y="6227348"/>
            <a:ext cx="3906314" cy="2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</a:pPr>
            <a:r>
              <a:rPr lang="en-US" b="true" sz="1479" spc="-14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workwithus@4garchitecture.com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3226" y="2440389"/>
            <a:ext cx="8681870" cy="357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Ingeniero Eléctrico, Ingeniero Electrónico o afines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Experiencia en dibujo y modelado de proyectos de ingeniería MEP.</a:t>
            </a:r>
          </a:p>
          <a:p>
            <a:pPr algn="l">
              <a:lnSpc>
                <a:spcPts val="2387"/>
              </a:lnSpc>
            </a:pPr>
          </a:p>
          <a:p>
            <a:pPr algn="l">
              <a:lnSpc>
                <a:spcPts val="2387"/>
              </a:lnSpc>
            </a:pPr>
            <a:r>
              <a:rPr lang="en-US" sz="2170">
                <a:solidFill>
                  <a:srgbClr val="7C2023"/>
                </a:solidFill>
                <a:latin typeface="Poppins"/>
                <a:ea typeface="Poppins"/>
                <a:cs typeface="Poppins"/>
                <a:sym typeface="Poppins"/>
              </a:rPr>
              <a:t>Requerimientos: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Inglés B2 - C1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2-3 </a:t>
            </a: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años de experiencia laboral en manejo de proyectos y/o construcciones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Software: Revit, NavisWorks, DiaLux (preferiblemente), Autocad.</a:t>
            </a:r>
          </a:p>
          <a:p>
            <a:pPr algn="l">
              <a:lnSpc>
                <a:spcPts val="2387"/>
              </a:lnSpc>
            </a:pPr>
          </a:p>
          <a:p>
            <a:pPr algn="l">
              <a:lnSpc>
                <a:spcPts val="2387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34259" y="2096271"/>
            <a:ext cx="4018949" cy="4350689"/>
          </a:xfrm>
          <a:custGeom>
            <a:avLst/>
            <a:gdLst/>
            <a:ahLst/>
            <a:cxnLst/>
            <a:rect r="r" b="b" t="t" l="l"/>
            <a:pathLst>
              <a:path h="4350689" w="4018949">
                <a:moveTo>
                  <a:pt x="0" y="0"/>
                </a:moveTo>
                <a:lnTo>
                  <a:pt x="4018949" y="0"/>
                </a:lnTo>
                <a:lnTo>
                  <a:pt x="4018949" y="4350689"/>
                </a:lnTo>
                <a:lnTo>
                  <a:pt x="0" y="4350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68659" y="2936480"/>
            <a:ext cx="2950149" cy="2670272"/>
            <a:chOff x="0" y="0"/>
            <a:chExt cx="3933531" cy="3560362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3195" t="0" r="13195" b="0"/>
            <a:stretch>
              <a:fillRect/>
            </a:stretch>
          </p:blipFill>
          <p:spPr>
            <a:xfrm flipH="false" flipV="false">
              <a:off x="0" y="0"/>
              <a:ext cx="3933531" cy="3560362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8972776" y="933575"/>
            <a:ext cx="267966" cy="390479"/>
          </a:xfrm>
          <a:custGeom>
            <a:avLst/>
            <a:gdLst/>
            <a:ahLst/>
            <a:cxnLst/>
            <a:rect r="r" b="b" t="t" l="l"/>
            <a:pathLst>
              <a:path h="390479" w="267966">
                <a:moveTo>
                  <a:pt x="0" y="0"/>
                </a:moveTo>
                <a:lnTo>
                  <a:pt x="267967" y="0"/>
                </a:lnTo>
                <a:lnTo>
                  <a:pt x="267967" y="390479"/>
                </a:lnTo>
                <a:lnTo>
                  <a:pt x="0" y="390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61627" y="919417"/>
            <a:ext cx="4866419" cy="35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127" i="true" spc="106">
                <a:solidFill>
                  <a:srgbClr val="94191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BARRANQUILLA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10222" y="704352"/>
            <a:ext cx="2554744" cy="848924"/>
          </a:xfrm>
          <a:custGeom>
            <a:avLst/>
            <a:gdLst/>
            <a:ahLst/>
            <a:cxnLst/>
            <a:rect r="r" b="b" t="t" l="l"/>
            <a:pathLst>
              <a:path h="848924" w="2554744">
                <a:moveTo>
                  <a:pt x="0" y="0"/>
                </a:moveTo>
                <a:lnTo>
                  <a:pt x="2554744" y="0"/>
                </a:lnTo>
                <a:lnTo>
                  <a:pt x="2554744" y="848925"/>
                </a:lnTo>
                <a:lnTo>
                  <a:pt x="0" y="848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64727" y="1738490"/>
            <a:ext cx="10630109" cy="48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9"/>
              </a:lnSpc>
            </a:pPr>
            <a:r>
              <a:rPr lang="en-US" b="true" sz="2794">
                <a:solidFill>
                  <a:srgbClr val="94191C"/>
                </a:solidFill>
                <a:latin typeface="Agrandir Bold"/>
                <a:ea typeface="Agrandir Bold"/>
                <a:cs typeface="Agrandir Bold"/>
                <a:sym typeface="Agrandir Bold"/>
              </a:rPr>
              <a:t>ENGINEER SENIOR (INGENIERO ELÉCTRICO)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84847" y="1512287"/>
            <a:ext cx="2717774" cy="841159"/>
            <a:chOff x="0" y="0"/>
            <a:chExt cx="715792" cy="2215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5792" cy="221540"/>
            </a:xfrm>
            <a:custGeom>
              <a:avLst/>
              <a:gdLst/>
              <a:ahLst/>
              <a:cxnLst/>
              <a:rect r="r" b="b" t="t" l="l"/>
              <a:pathLst>
                <a:path h="221540" w="715792">
                  <a:moveTo>
                    <a:pt x="0" y="0"/>
                  </a:moveTo>
                  <a:lnTo>
                    <a:pt x="715792" y="0"/>
                  </a:lnTo>
                  <a:lnTo>
                    <a:pt x="715792" y="221540"/>
                  </a:lnTo>
                  <a:lnTo>
                    <a:pt x="0" y="221540"/>
                  </a:lnTo>
                  <a:close/>
                </a:path>
              </a:pathLst>
            </a:custGeom>
            <a:solidFill>
              <a:srgbClr val="8A8A8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15792" cy="278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921113" y="1559151"/>
            <a:ext cx="3245242" cy="709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53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Salario</a:t>
            </a:r>
          </a:p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53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 $3.8 MM COP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333833" y="6131419"/>
            <a:ext cx="452261" cy="452261"/>
          </a:xfrm>
          <a:custGeom>
            <a:avLst/>
            <a:gdLst/>
            <a:ahLst/>
            <a:cxnLst/>
            <a:rect r="r" b="b" t="t" l="l"/>
            <a:pathLst>
              <a:path h="452261" w="452261">
                <a:moveTo>
                  <a:pt x="0" y="0"/>
                </a:moveTo>
                <a:lnTo>
                  <a:pt x="452262" y="0"/>
                </a:lnTo>
                <a:lnTo>
                  <a:pt x="452262" y="452261"/>
                </a:lnTo>
                <a:lnTo>
                  <a:pt x="0" y="452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75791" y="6227348"/>
            <a:ext cx="3906314" cy="2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</a:pPr>
            <a:r>
              <a:rPr lang="en-US" b="true" sz="1479" spc="-14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workwithus@4garchitecture.com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3226" y="2421339"/>
            <a:ext cx="8599550" cy="428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2190" indent="-191095" lvl="1">
              <a:lnSpc>
                <a:spcPts val="2141"/>
              </a:lnSpc>
              <a:buFont typeface="Arial"/>
              <a:buChar char="•"/>
            </a:pP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Diseñar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sistemas eléctricos para diferentes proyectos de edificios (residencial, institucional, comercial, hostelería, etc.).</a:t>
            </a:r>
          </a:p>
          <a:p>
            <a:pPr algn="l" marL="382190" indent="-191095" lvl="1">
              <a:lnSpc>
                <a:spcPts val="2141"/>
              </a:lnSpc>
              <a:buFont typeface="Arial"/>
              <a:buChar char="•"/>
            </a:pP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Preparar es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pecificaciones técnicas, diagramas unifilares, calendarios de paneles, planos y cálculos para sistemas de iluminación, baja tensión y de energía.</a:t>
            </a:r>
          </a:p>
          <a:p>
            <a:pPr algn="l" marL="382190" indent="-191095" lvl="1">
              <a:lnSpc>
                <a:spcPts val="2141"/>
              </a:lnSpc>
              <a:buFont typeface="Arial"/>
              <a:buChar char="•"/>
            </a:pP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Coordina con los 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ipos 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ucturales, c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s, mecá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fontanería y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arquitectura para garantizar una entrega fluida del proyecto.</a:t>
            </a:r>
          </a:p>
          <a:p>
            <a:pPr algn="l" marL="382190" indent="-191095" lvl="1">
              <a:lnSpc>
                <a:spcPts val="2141"/>
              </a:lnSpc>
              <a:buFont typeface="Arial"/>
              <a:buChar char="•"/>
            </a:pP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Desarrollar cálculos de cortocircuitos y caídas de voltaje.</a:t>
            </a:r>
          </a:p>
          <a:p>
            <a:pPr algn="l" marL="382190" indent="-191095" lvl="1">
              <a:lnSpc>
                <a:spcPts val="2141"/>
              </a:lnSpc>
              <a:buFont typeface="Arial"/>
              <a:buChar char="•"/>
            </a:pPr>
            <a:r>
              <a:rPr lang="en-US" b="true" sz="17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Uso intensivo de AutoCAD y Revit (obligatorio).</a:t>
            </a:r>
          </a:p>
          <a:p>
            <a:pPr algn="l" marL="382190" indent="-191095" lvl="1">
              <a:lnSpc>
                <a:spcPts val="2141"/>
              </a:lnSpc>
              <a:buFont typeface="Arial"/>
              <a:buChar char="•"/>
            </a:pPr>
            <a:r>
              <a:rPr lang="en-US" b="true" sz="17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Inglés nivel B2-C1.</a:t>
            </a:r>
          </a:p>
          <a:p>
            <a:pPr algn="l" marL="382190" indent="-191095" lvl="1">
              <a:lnSpc>
                <a:spcPts val="2141"/>
              </a:lnSpc>
              <a:buFont typeface="Arial"/>
              <a:buChar char="•"/>
            </a:pP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Conocimientos sobre las normas NFPA y los códigos de construcción aplicables.</a:t>
            </a:r>
          </a:p>
          <a:p>
            <a:pPr algn="l" marL="382190" indent="-191095" lvl="1">
              <a:lnSpc>
                <a:spcPts val="2141"/>
              </a:lnSpc>
              <a:buFont typeface="Arial"/>
              <a:buChar char="•"/>
            </a:pP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7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apacidad para trabajar de forma colaborativa con equipos.</a:t>
            </a:r>
          </a:p>
          <a:p>
            <a:pPr algn="l">
              <a:lnSpc>
                <a:spcPts val="2141"/>
              </a:lnSpc>
            </a:pPr>
          </a:p>
          <a:p>
            <a:pPr algn="l">
              <a:lnSpc>
                <a:spcPts val="2141"/>
              </a:lnSpc>
            </a:pPr>
          </a:p>
          <a:p>
            <a:pPr algn="l">
              <a:lnSpc>
                <a:spcPts val="2141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34259" y="2096271"/>
            <a:ext cx="4018949" cy="4350689"/>
          </a:xfrm>
          <a:custGeom>
            <a:avLst/>
            <a:gdLst/>
            <a:ahLst/>
            <a:cxnLst/>
            <a:rect r="r" b="b" t="t" l="l"/>
            <a:pathLst>
              <a:path h="4350689" w="4018949">
                <a:moveTo>
                  <a:pt x="0" y="0"/>
                </a:moveTo>
                <a:lnTo>
                  <a:pt x="4018949" y="0"/>
                </a:lnTo>
                <a:lnTo>
                  <a:pt x="4018949" y="4350689"/>
                </a:lnTo>
                <a:lnTo>
                  <a:pt x="0" y="4350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68659" y="2936480"/>
            <a:ext cx="2950149" cy="2670272"/>
            <a:chOff x="0" y="0"/>
            <a:chExt cx="3933531" cy="3560362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3195" t="0" r="13195" b="0"/>
            <a:stretch>
              <a:fillRect/>
            </a:stretch>
          </p:blipFill>
          <p:spPr>
            <a:xfrm flipH="false" flipV="false">
              <a:off x="0" y="0"/>
              <a:ext cx="3933531" cy="3560362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8972776" y="933575"/>
            <a:ext cx="267966" cy="390479"/>
          </a:xfrm>
          <a:custGeom>
            <a:avLst/>
            <a:gdLst/>
            <a:ahLst/>
            <a:cxnLst/>
            <a:rect r="r" b="b" t="t" l="l"/>
            <a:pathLst>
              <a:path h="390479" w="267966">
                <a:moveTo>
                  <a:pt x="0" y="0"/>
                </a:moveTo>
                <a:lnTo>
                  <a:pt x="267967" y="0"/>
                </a:lnTo>
                <a:lnTo>
                  <a:pt x="267967" y="390479"/>
                </a:lnTo>
                <a:lnTo>
                  <a:pt x="0" y="390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61627" y="919417"/>
            <a:ext cx="4866419" cy="35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127" i="true" spc="106">
                <a:solidFill>
                  <a:srgbClr val="94191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BARRANQUILLA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10222" y="704352"/>
            <a:ext cx="2554744" cy="848924"/>
          </a:xfrm>
          <a:custGeom>
            <a:avLst/>
            <a:gdLst/>
            <a:ahLst/>
            <a:cxnLst/>
            <a:rect r="r" b="b" t="t" l="l"/>
            <a:pathLst>
              <a:path h="848924" w="2554744">
                <a:moveTo>
                  <a:pt x="0" y="0"/>
                </a:moveTo>
                <a:lnTo>
                  <a:pt x="2554744" y="0"/>
                </a:lnTo>
                <a:lnTo>
                  <a:pt x="2554744" y="848925"/>
                </a:lnTo>
                <a:lnTo>
                  <a:pt x="0" y="848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3252" y="1748015"/>
            <a:ext cx="10630109" cy="46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7"/>
              </a:lnSpc>
            </a:pPr>
            <a:r>
              <a:rPr lang="en-US" b="true" sz="2694">
                <a:solidFill>
                  <a:srgbClr val="94191C"/>
                </a:solidFill>
                <a:latin typeface="Agrandir Bold"/>
                <a:ea typeface="Agrandir Bold"/>
                <a:cs typeface="Agrandir Bold"/>
                <a:sym typeface="Agrandir Bold"/>
              </a:rPr>
              <a:t>INGENIERO SENIOR MEP (ENFOQUE PLUMBING)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84847" y="1512287"/>
            <a:ext cx="2717774" cy="841159"/>
            <a:chOff x="0" y="0"/>
            <a:chExt cx="715792" cy="2215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5792" cy="221540"/>
            </a:xfrm>
            <a:custGeom>
              <a:avLst/>
              <a:gdLst/>
              <a:ahLst/>
              <a:cxnLst/>
              <a:rect r="r" b="b" t="t" l="l"/>
              <a:pathLst>
                <a:path h="221540" w="715792">
                  <a:moveTo>
                    <a:pt x="0" y="0"/>
                  </a:moveTo>
                  <a:lnTo>
                    <a:pt x="715792" y="0"/>
                  </a:lnTo>
                  <a:lnTo>
                    <a:pt x="715792" y="221540"/>
                  </a:lnTo>
                  <a:lnTo>
                    <a:pt x="0" y="221540"/>
                  </a:lnTo>
                  <a:close/>
                </a:path>
              </a:pathLst>
            </a:custGeom>
            <a:solidFill>
              <a:srgbClr val="8A8A8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15792" cy="278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921113" y="1559151"/>
            <a:ext cx="3245242" cy="709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53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Salario</a:t>
            </a:r>
          </a:p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53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 $3.8 MM COP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187619" y="6131419"/>
            <a:ext cx="452261" cy="452261"/>
          </a:xfrm>
          <a:custGeom>
            <a:avLst/>
            <a:gdLst/>
            <a:ahLst/>
            <a:cxnLst/>
            <a:rect r="r" b="b" t="t" l="l"/>
            <a:pathLst>
              <a:path h="452261" w="452261">
                <a:moveTo>
                  <a:pt x="0" y="0"/>
                </a:moveTo>
                <a:lnTo>
                  <a:pt x="452262" y="0"/>
                </a:lnTo>
                <a:lnTo>
                  <a:pt x="452262" y="452261"/>
                </a:lnTo>
                <a:lnTo>
                  <a:pt x="0" y="452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329577" y="6227348"/>
            <a:ext cx="3906314" cy="2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</a:pPr>
            <a:r>
              <a:rPr lang="en-US" b="true" sz="1479" spc="-14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workwithus@4garchitecture.com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5266" y="2411814"/>
            <a:ext cx="8465847" cy="395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645" indent="-183323" lvl="1">
              <a:lnSpc>
                <a:spcPts val="2054"/>
              </a:lnSpc>
              <a:buFont typeface="Arial"/>
              <a:buChar char="•"/>
            </a:pP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Ingeniero mecánico, Ingeniero civil, Arquitecto con experiencia MEP o cargos afines.</a:t>
            </a:r>
          </a:p>
          <a:p>
            <a:pPr algn="l">
              <a:lnSpc>
                <a:spcPts val="2054"/>
              </a:lnSpc>
            </a:pPr>
            <a:r>
              <a:rPr lang="en-US" sz="1698">
                <a:solidFill>
                  <a:srgbClr val="7A0303"/>
                </a:solidFill>
                <a:latin typeface="Poppins"/>
                <a:ea typeface="Poppins"/>
                <a:cs typeface="Poppins"/>
                <a:sym typeface="Poppins"/>
              </a:rPr>
              <a:t>Requerimientos:</a:t>
            </a:r>
          </a:p>
          <a:p>
            <a:pPr algn="l" marL="366645" indent="-183323" lvl="1">
              <a:lnSpc>
                <a:spcPts val="2054"/>
              </a:lnSpc>
              <a:buFont typeface="Arial"/>
              <a:buChar char="•"/>
            </a:pP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Conocim</a:t>
            </a: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iento de los criterios de diseño para los sistemas de fontanería.</a:t>
            </a:r>
          </a:p>
          <a:p>
            <a:pPr algn="l" marL="366645" indent="-183323" lvl="1">
              <a:lnSpc>
                <a:spcPts val="2054"/>
              </a:lnSpc>
              <a:buFont typeface="Arial"/>
              <a:buChar char="•"/>
            </a:pP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Distribución y diseño de sistemas de fontanería, incluyendo alcantarillado san</a:t>
            </a: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itario, alcantarillado de proceso, agua potable, agua caliente, gas natural y drenaje de tejados.</a:t>
            </a:r>
          </a:p>
          <a:p>
            <a:pPr algn="l" marL="366645" indent="-183323" lvl="1">
              <a:lnSpc>
                <a:spcPts val="2054"/>
              </a:lnSpc>
              <a:buFont typeface="Arial"/>
              <a:buChar char="•"/>
            </a:pP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Uso de AutoCAD, Revit u otro software para crear paquetes de documentos de construcción de fontanería que </a:t>
            </a: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incluyen con</a:t>
            </a: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iones d</a:t>
            </a: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a</a:t>
            </a: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cc</a:t>
            </a: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sori</a:t>
            </a: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</a:t>
            </a: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fontanería, conexiones</a:t>
            </a: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e</a:t>
            </a:r>
            <a:r>
              <a:rPr lang="en-US" sz="1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quipos y tuberías asociadas, diagramas isométricos de riser, horarios apropiados, detalles y especificaciones de construcción.</a:t>
            </a:r>
          </a:p>
          <a:p>
            <a:pPr algn="l" marL="366645" indent="-183323" lvl="1">
              <a:lnSpc>
                <a:spcPts val="2054"/>
              </a:lnSpc>
              <a:buFont typeface="Arial"/>
              <a:buChar char="•"/>
            </a:pPr>
            <a:r>
              <a:rPr lang="en-US" b="true" sz="16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Uso intensivo de AutoCAD y Revit (obligatorio) Navisworks (idealmente).</a:t>
            </a:r>
          </a:p>
          <a:p>
            <a:pPr algn="l" marL="366645" indent="-183323" lvl="1">
              <a:lnSpc>
                <a:spcPts val="2054"/>
              </a:lnSpc>
              <a:buFont typeface="Arial"/>
              <a:buChar char="•"/>
            </a:pPr>
            <a:r>
              <a:rPr lang="en-US" b="true" sz="16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Inglés nivel B2-C1.</a:t>
            </a:r>
          </a:p>
          <a:p>
            <a:pPr algn="l">
              <a:lnSpc>
                <a:spcPts val="2636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34259" y="2096271"/>
            <a:ext cx="4018949" cy="4350689"/>
          </a:xfrm>
          <a:custGeom>
            <a:avLst/>
            <a:gdLst/>
            <a:ahLst/>
            <a:cxnLst/>
            <a:rect r="r" b="b" t="t" l="l"/>
            <a:pathLst>
              <a:path h="4350689" w="4018949">
                <a:moveTo>
                  <a:pt x="0" y="0"/>
                </a:moveTo>
                <a:lnTo>
                  <a:pt x="4018949" y="0"/>
                </a:lnTo>
                <a:lnTo>
                  <a:pt x="4018949" y="4350689"/>
                </a:lnTo>
                <a:lnTo>
                  <a:pt x="0" y="4350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68659" y="2936480"/>
            <a:ext cx="2950149" cy="2670272"/>
            <a:chOff x="0" y="0"/>
            <a:chExt cx="3933531" cy="3560362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3195" t="0" r="13195" b="0"/>
            <a:stretch>
              <a:fillRect/>
            </a:stretch>
          </p:blipFill>
          <p:spPr>
            <a:xfrm flipH="false" flipV="false">
              <a:off x="0" y="0"/>
              <a:ext cx="3933531" cy="3560362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8595702" y="1609925"/>
            <a:ext cx="267966" cy="390479"/>
          </a:xfrm>
          <a:custGeom>
            <a:avLst/>
            <a:gdLst/>
            <a:ahLst/>
            <a:cxnLst/>
            <a:rect r="r" b="b" t="t" l="l"/>
            <a:pathLst>
              <a:path h="390479" w="267966">
                <a:moveTo>
                  <a:pt x="0" y="0"/>
                </a:moveTo>
                <a:lnTo>
                  <a:pt x="267966" y="0"/>
                </a:lnTo>
                <a:lnTo>
                  <a:pt x="267966" y="390479"/>
                </a:lnTo>
                <a:lnTo>
                  <a:pt x="0" y="390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84552" y="1595767"/>
            <a:ext cx="4866419" cy="35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127" i="true" spc="106">
                <a:solidFill>
                  <a:srgbClr val="94191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BARRANQUILLA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10222" y="704352"/>
            <a:ext cx="2554744" cy="848924"/>
          </a:xfrm>
          <a:custGeom>
            <a:avLst/>
            <a:gdLst/>
            <a:ahLst/>
            <a:cxnLst/>
            <a:rect r="r" b="b" t="t" l="l"/>
            <a:pathLst>
              <a:path h="848924" w="2554744">
                <a:moveTo>
                  <a:pt x="0" y="0"/>
                </a:moveTo>
                <a:lnTo>
                  <a:pt x="2554744" y="0"/>
                </a:lnTo>
                <a:lnTo>
                  <a:pt x="2554744" y="848925"/>
                </a:lnTo>
                <a:lnTo>
                  <a:pt x="0" y="848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88502" y="1748015"/>
            <a:ext cx="10630109" cy="50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3"/>
              </a:lnSpc>
            </a:pPr>
            <a:r>
              <a:rPr lang="en-US" b="true" sz="2994">
                <a:solidFill>
                  <a:srgbClr val="94191C"/>
                </a:solidFill>
                <a:latin typeface="Agrandir Bold"/>
                <a:ea typeface="Agrandir Bold"/>
                <a:cs typeface="Agrandir Bold"/>
                <a:sym typeface="Agrandir Bold"/>
              </a:rPr>
              <a:t>PLUMBING DESIGN ENGINEER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187619" y="6131419"/>
            <a:ext cx="452261" cy="452261"/>
          </a:xfrm>
          <a:custGeom>
            <a:avLst/>
            <a:gdLst/>
            <a:ahLst/>
            <a:cxnLst/>
            <a:rect r="r" b="b" t="t" l="l"/>
            <a:pathLst>
              <a:path h="452261" w="452261">
                <a:moveTo>
                  <a:pt x="0" y="0"/>
                </a:moveTo>
                <a:lnTo>
                  <a:pt x="452262" y="0"/>
                </a:lnTo>
                <a:lnTo>
                  <a:pt x="452262" y="452261"/>
                </a:lnTo>
                <a:lnTo>
                  <a:pt x="0" y="452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29577" y="6227348"/>
            <a:ext cx="3906314" cy="2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</a:pPr>
            <a:r>
              <a:rPr lang="en-US" b="true" sz="1479" spc="-14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workwithus@4garchitecture.com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5266" y="2421339"/>
            <a:ext cx="8078993" cy="395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235" indent="-194117" lvl="1">
              <a:lnSpc>
                <a:spcPts val="2175"/>
              </a:lnSpc>
              <a:buFont typeface="Arial"/>
              <a:buChar char="•"/>
            </a:pP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Profesional en ingeniería civil, ingeniería electrica o afines.</a:t>
            </a:r>
          </a:p>
          <a:p>
            <a:pPr algn="l">
              <a:lnSpc>
                <a:spcPts val="2175"/>
              </a:lnSpc>
            </a:pPr>
            <a:r>
              <a:rPr lang="en-US" sz="1798">
                <a:solidFill>
                  <a:srgbClr val="7A0303"/>
                </a:solidFill>
                <a:latin typeface="Poppins"/>
                <a:ea typeface="Poppins"/>
                <a:cs typeface="Poppins"/>
                <a:sym typeface="Poppins"/>
              </a:rPr>
              <a:t>Requerimientos:</a:t>
            </a:r>
          </a:p>
          <a:p>
            <a:pPr algn="l" marL="388235" indent="-194117" lvl="1">
              <a:lnSpc>
                <a:spcPts val="2175"/>
              </a:lnSpc>
              <a:buFont typeface="Arial"/>
              <a:buChar char="•"/>
            </a:pPr>
            <a:r>
              <a:rPr lang="en-US" b="true" sz="17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Conocim</a:t>
            </a:r>
            <a:r>
              <a:rPr lang="en-US" b="true" sz="17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iento en criterios y diseño de sistemas de plumbing.</a:t>
            </a:r>
          </a:p>
          <a:p>
            <a:pPr algn="l" marL="388235" indent="-194117" lvl="1">
              <a:lnSpc>
                <a:spcPts val="2175"/>
              </a:lnSpc>
              <a:buFont typeface="Arial"/>
              <a:buChar char="•"/>
            </a:pP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Experiencia en diseño de sistemas san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itarios, agua potable y caliente, gas natural y drenaje pluvial.</a:t>
            </a:r>
          </a:p>
          <a:p>
            <a:pPr algn="l" marL="388235" indent="-194117" lvl="1">
              <a:lnSpc>
                <a:spcPts val="2175"/>
              </a:lnSpc>
              <a:buFont typeface="Arial"/>
              <a:buChar char="•"/>
            </a:pP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Elaboración de documentos y especif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icac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iones técnica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diseño.</a:t>
            </a:r>
          </a:p>
          <a:p>
            <a:pPr algn="l" marL="388235" indent="-194117" lvl="1">
              <a:lnSpc>
                <a:spcPts val="2175"/>
              </a:lnSpc>
              <a:buFont typeface="Arial"/>
              <a:buChar char="•"/>
            </a:pPr>
            <a:r>
              <a:rPr lang="en-US" b="true" sz="17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Uso</a:t>
            </a:r>
            <a:r>
              <a:rPr lang="en-US" b="true" sz="17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de A</a:t>
            </a:r>
            <a:r>
              <a:rPr lang="en-US" b="true" sz="17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utoCAD y Revit para planos constructivos, isométricos y detalles.</a:t>
            </a:r>
          </a:p>
          <a:p>
            <a:pPr algn="l" marL="388235" indent="-194117" lvl="1">
              <a:lnSpc>
                <a:spcPts val="2175"/>
              </a:lnSpc>
              <a:buFont typeface="Arial"/>
              <a:buChar char="•"/>
            </a:pP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Experiencia en cálculos de cargas, dimen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ami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de t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uberías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 e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pos.</a:t>
            </a:r>
          </a:p>
          <a:p>
            <a:pPr algn="l" marL="388235" indent="-194117" lvl="1">
              <a:lnSpc>
                <a:spcPts val="2175"/>
              </a:lnSpc>
              <a:buFont typeface="Arial"/>
              <a:buChar char="•"/>
            </a:pP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Coordinación y 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rabajo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ola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 equ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 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iscip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arios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388235" indent="-194117" lvl="1">
              <a:lnSpc>
                <a:spcPts val="2175"/>
              </a:lnSpc>
              <a:buFont typeface="Arial"/>
              <a:buChar char="•"/>
            </a:pPr>
            <a:r>
              <a:rPr lang="en-US" b="true" sz="17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Nivel de inglés avanzado B2 – C1</a:t>
            </a:r>
          </a:p>
          <a:p>
            <a:pPr algn="l">
              <a:lnSpc>
                <a:spcPts val="2757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34259" y="2096271"/>
            <a:ext cx="4018949" cy="4350689"/>
          </a:xfrm>
          <a:custGeom>
            <a:avLst/>
            <a:gdLst/>
            <a:ahLst/>
            <a:cxnLst/>
            <a:rect r="r" b="b" t="t" l="l"/>
            <a:pathLst>
              <a:path h="4350689" w="4018949">
                <a:moveTo>
                  <a:pt x="0" y="0"/>
                </a:moveTo>
                <a:lnTo>
                  <a:pt x="4018949" y="0"/>
                </a:lnTo>
                <a:lnTo>
                  <a:pt x="4018949" y="4350689"/>
                </a:lnTo>
                <a:lnTo>
                  <a:pt x="0" y="4350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68659" y="2936480"/>
            <a:ext cx="2950149" cy="2670272"/>
            <a:chOff x="0" y="0"/>
            <a:chExt cx="3933531" cy="3560362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3195" t="0" r="13195" b="0"/>
            <a:stretch>
              <a:fillRect/>
            </a:stretch>
          </p:blipFill>
          <p:spPr>
            <a:xfrm flipH="false" flipV="false">
              <a:off x="0" y="0"/>
              <a:ext cx="3933531" cy="3560362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8921113" y="933561"/>
            <a:ext cx="267966" cy="390479"/>
          </a:xfrm>
          <a:custGeom>
            <a:avLst/>
            <a:gdLst/>
            <a:ahLst/>
            <a:cxnLst/>
            <a:rect r="r" b="b" t="t" l="l"/>
            <a:pathLst>
              <a:path h="390479" w="267966">
                <a:moveTo>
                  <a:pt x="0" y="0"/>
                </a:moveTo>
                <a:lnTo>
                  <a:pt x="267966" y="0"/>
                </a:lnTo>
                <a:lnTo>
                  <a:pt x="267966" y="390479"/>
                </a:lnTo>
                <a:lnTo>
                  <a:pt x="0" y="390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61627" y="909892"/>
            <a:ext cx="4866419" cy="41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427" i="true" spc="121">
                <a:solidFill>
                  <a:srgbClr val="94191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BARRANQUILLA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906438" y="704338"/>
            <a:ext cx="2554744" cy="848924"/>
          </a:xfrm>
          <a:custGeom>
            <a:avLst/>
            <a:gdLst/>
            <a:ahLst/>
            <a:cxnLst/>
            <a:rect r="r" b="b" t="t" l="l"/>
            <a:pathLst>
              <a:path h="848924" w="2554744">
                <a:moveTo>
                  <a:pt x="0" y="0"/>
                </a:moveTo>
                <a:lnTo>
                  <a:pt x="2554744" y="0"/>
                </a:lnTo>
                <a:lnTo>
                  <a:pt x="2554744" y="848925"/>
                </a:lnTo>
                <a:lnTo>
                  <a:pt x="0" y="848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3226" y="1677303"/>
            <a:ext cx="8865665" cy="591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1"/>
              </a:lnSpc>
            </a:pPr>
            <a:r>
              <a:rPr lang="en-US" b="true" sz="3394">
                <a:solidFill>
                  <a:srgbClr val="94191C"/>
                </a:solidFill>
                <a:latin typeface="Agrandir Bold"/>
                <a:ea typeface="Agrandir Bold"/>
                <a:cs typeface="Agrandir Bold"/>
                <a:sym typeface="Agrandir Bold"/>
              </a:rPr>
              <a:t>BUSINESS DEVELOPMENT EXECUTIVE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21113" y="1553263"/>
            <a:ext cx="3368362" cy="841159"/>
            <a:chOff x="0" y="0"/>
            <a:chExt cx="887141" cy="2215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7141" cy="221540"/>
            </a:xfrm>
            <a:custGeom>
              <a:avLst/>
              <a:gdLst/>
              <a:ahLst/>
              <a:cxnLst/>
              <a:rect r="r" b="b" t="t" l="l"/>
              <a:pathLst>
                <a:path h="221540" w="887141">
                  <a:moveTo>
                    <a:pt x="0" y="0"/>
                  </a:moveTo>
                  <a:lnTo>
                    <a:pt x="887141" y="0"/>
                  </a:lnTo>
                  <a:lnTo>
                    <a:pt x="887141" y="221540"/>
                  </a:lnTo>
                  <a:lnTo>
                    <a:pt x="0" y="221540"/>
                  </a:lnTo>
                  <a:close/>
                </a:path>
              </a:pathLst>
            </a:custGeom>
            <a:solidFill>
              <a:srgbClr val="8A8A8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887141" cy="278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8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333833" y="6131419"/>
            <a:ext cx="452261" cy="452261"/>
          </a:xfrm>
          <a:custGeom>
            <a:avLst/>
            <a:gdLst/>
            <a:ahLst/>
            <a:cxnLst/>
            <a:rect r="r" b="b" t="t" l="l"/>
            <a:pathLst>
              <a:path h="452261" w="452261">
                <a:moveTo>
                  <a:pt x="0" y="0"/>
                </a:moveTo>
                <a:lnTo>
                  <a:pt x="452262" y="0"/>
                </a:lnTo>
                <a:lnTo>
                  <a:pt x="452262" y="452261"/>
                </a:lnTo>
                <a:lnTo>
                  <a:pt x="0" y="452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75791" y="6227348"/>
            <a:ext cx="3906314" cy="2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</a:pPr>
            <a:r>
              <a:rPr lang="en-US" b="true" sz="1479" spc="-14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workwithus@4garchitecture.com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1520" y="2380262"/>
            <a:ext cx="7993726" cy="386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Buscamos u</a:t>
            </a: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 persona proactiva y orientada a resultados, encargada de realizar la búsqueda activa de nuevos clientes, m</a:t>
            </a: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ediante investigación comercial e identificando oportunidades de negocio.</a:t>
            </a:r>
          </a:p>
          <a:p>
            <a:pPr algn="l">
              <a:lnSpc>
                <a:spcPts val="2387"/>
              </a:lnSpc>
            </a:pPr>
          </a:p>
          <a:p>
            <a:pPr algn="l">
              <a:lnSpc>
                <a:spcPts val="2387"/>
              </a:lnSpc>
            </a:pPr>
            <a:r>
              <a:rPr lang="en-US" sz="2170">
                <a:solidFill>
                  <a:srgbClr val="7C2023"/>
                </a:solidFill>
                <a:latin typeface="Poppins"/>
                <a:ea typeface="Poppins"/>
                <a:cs typeface="Poppins"/>
                <a:sym typeface="Poppins"/>
              </a:rPr>
              <a:t>Requerimientos: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Profesional de Arquitectura, </a:t>
            </a: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Ingeniería civil Administración de empresas o carreras afines.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</a:t>
            </a: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años de experiencia en gestión/ cargos comerciales.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Bilingü</a:t>
            </a: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- Inglés avanzado C1 </a:t>
            </a:r>
          </a:p>
          <a:p>
            <a:pPr algn="l">
              <a:lnSpc>
                <a:spcPts val="2387"/>
              </a:lnSpc>
            </a:pPr>
          </a:p>
          <a:p>
            <a:pPr algn="l">
              <a:lnSpc>
                <a:spcPts val="238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097893" y="1688700"/>
            <a:ext cx="3080100" cy="57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2006" spc="-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$7.0 MM COP +  esquema de comisiones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34259" y="2096271"/>
            <a:ext cx="4018949" cy="4350689"/>
          </a:xfrm>
          <a:custGeom>
            <a:avLst/>
            <a:gdLst/>
            <a:ahLst/>
            <a:cxnLst/>
            <a:rect r="r" b="b" t="t" l="l"/>
            <a:pathLst>
              <a:path h="4350689" w="4018949">
                <a:moveTo>
                  <a:pt x="0" y="0"/>
                </a:moveTo>
                <a:lnTo>
                  <a:pt x="4018949" y="0"/>
                </a:lnTo>
                <a:lnTo>
                  <a:pt x="4018949" y="4350689"/>
                </a:lnTo>
                <a:lnTo>
                  <a:pt x="0" y="4350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68659" y="2936480"/>
            <a:ext cx="2950149" cy="2670272"/>
            <a:chOff x="0" y="0"/>
            <a:chExt cx="3933531" cy="3560362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0641" t="0" r="10641" b="0"/>
            <a:stretch>
              <a:fillRect/>
            </a:stretch>
          </p:blipFill>
          <p:spPr>
            <a:xfrm flipH="false" flipV="false">
              <a:off x="0" y="0"/>
              <a:ext cx="3933531" cy="3560362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8921113" y="933561"/>
            <a:ext cx="267966" cy="390479"/>
          </a:xfrm>
          <a:custGeom>
            <a:avLst/>
            <a:gdLst/>
            <a:ahLst/>
            <a:cxnLst/>
            <a:rect r="r" b="b" t="t" l="l"/>
            <a:pathLst>
              <a:path h="390479" w="267966">
                <a:moveTo>
                  <a:pt x="0" y="0"/>
                </a:moveTo>
                <a:lnTo>
                  <a:pt x="267966" y="0"/>
                </a:lnTo>
                <a:lnTo>
                  <a:pt x="267966" y="390479"/>
                </a:lnTo>
                <a:lnTo>
                  <a:pt x="0" y="390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61627" y="909892"/>
            <a:ext cx="4866419" cy="41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427" i="true" spc="121">
                <a:solidFill>
                  <a:srgbClr val="94191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BARRANQUILLA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786095" y="748327"/>
            <a:ext cx="2554744" cy="848924"/>
          </a:xfrm>
          <a:custGeom>
            <a:avLst/>
            <a:gdLst/>
            <a:ahLst/>
            <a:cxnLst/>
            <a:rect r="r" b="b" t="t" l="l"/>
            <a:pathLst>
              <a:path h="848924" w="2554744">
                <a:moveTo>
                  <a:pt x="0" y="0"/>
                </a:moveTo>
                <a:lnTo>
                  <a:pt x="2554744" y="0"/>
                </a:lnTo>
                <a:lnTo>
                  <a:pt x="2554744" y="848924"/>
                </a:lnTo>
                <a:lnTo>
                  <a:pt x="0" y="8489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64727" y="1728965"/>
            <a:ext cx="6637382" cy="107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1"/>
              </a:lnSpc>
            </a:pPr>
            <a:r>
              <a:rPr lang="en-US" b="true" sz="3394" spc="-67">
                <a:solidFill>
                  <a:srgbClr val="94191C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PROJECT MANAGER JUNIOR</a:t>
            </a:r>
          </a:p>
          <a:p>
            <a:pPr algn="just">
              <a:lnSpc>
                <a:spcPts val="3801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9184847" y="1512287"/>
            <a:ext cx="2717774" cy="841159"/>
            <a:chOff x="0" y="0"/>
            <a:chExt cx="715792" cy="2215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5792" cy="221540"/>
            </a:xfrm>
            <a:custGeom>
              <a:avLst/>
              <a:gdLst/>
              <a:ahLst/>
              <a:cxnLst/>
              <a:rect r="r" b="b" t="t" l="l"/>
              <a:pathLst>
                <a:path h="221540" w="715792">
                  <a:moveTo>
                    <a:pt x="0" y="0"/>
                  </a:moveTo>
                  <a:lnTo>
                    <a:pt x="715792" y="0"/>
                  </a:lnTo>
                  <a:lnTo>
                    <a:pt x="715792" y="221540"/>
                  </a:lnTo>
                  <a:lnTo>
                    <a:pt x="0" y="221540"/>
                  </a:lnTo>
                  <a:close/>
                </a:path>
              </a:pathLst>
            </a:custGeom>
            <a:solidFill>
              <a:srgbClr val="8A8A8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15792" cy="278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921113" y="1559151"/>
            <a:ext cx="3245242" cy="709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53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Salario</a:t>
            </a:r>
          </a:p>
          <a:p>
            <a:pPr algn="ctr">
              <a:lnSpc>
                <a:spcPts val="2874"/>
              </a:lnSpc>
              <a:spcBef>
                <a:spcPct val="0"/>
              </a:spcBef>
            </a:pPr>
            <a:r>
              <a:rPr lang="en-US" b="true" sz="2053">
                <a:solidFill>
                  <a:srgbClr val="FDFDFD"/>
                </a:solidFill>
                <a:latin typeface="Roboto Bold"/>
                <a:ea typeface="Roboto Bold"/>
                <a:cs typeface="Roboto Bold"/>
                <a:sym typeface="Roboto Bold"/>
              </a:rPr>
              <a:t> $5.1 MM COP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333833" y="6131419"/>
            <a:ext cx="452261" cy="452261"/>
          </a:xfrm>
          <a:custGeom>
            <a:avLst/>
            <a:gdLst/>
            <a:ahLst/>
            <a:cxnLst/>
            <a:rect r="r" b="b" t="t" l="l"/>
            <a:pathLst>
              <a:path h="452261" w="452261">
                <a:moveTo>
                  <a:pt x="0" y="0"/>
                </a:moveTo>
                <a:lnTo>
                  <a:pt x="452262" y="0"/>
                </a:lnTo>
                <a:lnTo>
                  <a:pt x="452262" y="452261"/>
                </a:lnTo>
                <a:lnTo>
                  <a:pt x="0" y="452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75791" y="6227348"/>
            <a:ext cx="3906314" cy="2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</a:pPr>
            <a:r>
              <a:rPr lang="en-US" b="true" sz="1479" spc="-14">
                <a:solidFill>
                  <a:srgbClr val="191415"/>
                </a:solidFill>
                <a:latin typeface="Gotham Bold"/>
                <a:ea typeface="Gotham Bold"/>
                <a:cs typeface="Gotham Bold"/>
                <a:sym typeface="Gotham Bold"/>
              </a:rPr>
              <a:t>workwithus@4garchitecture.com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4727" y="2422268"/>
            <a:ext cx="7879464" cy="416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170">
                <a:solidFill>
                  <a:srgbClr val="7C2023"/>
                </a:solidFill>
                <a:latin typeface="Poppins"/>
                <a:ea typeface="Poppins"/>
                <a:cs typeface="Poppins"/>
                <a:sym typeface="Poppins"/>
              </a:rPr>
              <a:t>Requerimientos:</a:t>
            </a:r>
          </a:p>
          <a:p>
            <a:pPr algn="l">
              <a:lnSpc>
                <a:spcPts val="2387"/>
              </a:lnSpc>
            </a:pP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Profesional en </a:t>
            </a: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Ingeniería civil, Ingeniería Eléctrica, Arquitectura o afines.  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Manejo Avanzado de REVIT y AutoCAD, BIM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Inglés nivel B2 Conversacional. 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Experiencia en coordinación, preferiblemente en ejecución de proyectos. 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Experiencia en liderazgo de equipos. </a:t>
            </a:r>
          </a:p>
          <a:p>
            <a:pPr algn="l" marL="468548" indent="-234274" lvl="1">
              <a:lnSpc>
                <a:spcPts val="2387"/>
              </a:lnSpc>
              <a:buFont typeface="Arial"/>
              <a:buChar char="•"/>
            </a:pPr>
            <a:r>
              <a:rPr lang="en-US" sz="21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Experiencia en desarrollo de documentos de planimetría técnica de proyectos.</a:t>
            </a:r>
          </a:p>
          <a:p>
            <a:pPr algn="l">
              <a:lnSpc>
                <a:spcPts val="2387"/>
              </a:lnSpc>
            </a:pPr>
          </a:p>
          <a:p>
            <a:pPr algn="l">
              <a:lnSpc>
                <a:spcPts val="2387"/>
              </a:lnSpc>
            </a:pPr>
          </a:p>
          <a:p>
            <a:pPr algn="l">
              <a:lnSpc>
                <a:spcPts val="2387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DAG7906e_uI</dc:identifier>
  <dcterms:modified xsi:type="dcterms:W3CDTF">2011-08-01T06:04:30Z</dcterms:modified>
  <cp:revision>1</cp:revision>
  <dc:title>Técnico o tecnólogo egresado SENA. Manejo de Revit - AutoCAD Experiencia de 6 meses. contrato a termino indefinido.</dc:title>
</cp:coreProperties>
</file>